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Lora Medium"/>
      <p:regular r:id="rId24"/>
      <p:bold r:id="rId25"/>
      <p:italic r:id="rId26"/>
      <p:boldItalic r:id="rId27"/>
    </p:embeddedFont>
    <p:embeddedFont>
      <p:font typeface="Caveat"/>
      <p:regular r:id="rId28"/>
      <p:bold r:id="rId29"/>
    </p:embeddedFont>
    <p:embeddedFont>
      <p:font typeface="Lora"/>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LoraMedium-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LoraMedium-italic.fntdata"/><Relationship Id="rId25" Type="http://schemas.openxmlformats.org/officeDocument/2006/relationships/font" Target="fonts/LoraMedium-bold.fntdata"/><Relationship Id="rId28" Type="http://schemas.openxmlformats.org/officeDocument/2006/relationships/font" Target="fonts/Caveat-regular.fntdata"/><Relationship Id="rId27" Type="http://schemas.openxmlformats.org/officeDocument/2006/relationships/font" Target="fonts/LoraMedium-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Caveat-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ora-bold.fntdata"/><Relationship Id="rId30" Type="http://schemas.openxmlformats.org/officeDocument/2006/relationships/font" Target="fonts/Lora-regular.fntdata"/><Relationship Id="rId11" Type="http://schemas.openxmlformats.org/officeDocument/2006/relationships/slide" Target="slides/slide5.xml"/><Relationship Id="rId33" Type="http://schemas.openxmlformats.org/officeDocument/2006/relationships/font" Target="fonts/Lora-boldItalic.fntdata"/><Relationship Id="rId10" Type="http://schemas.openxmlformats.org/officeDocument/2006/relationships/slide" Target="slides/slide4.xml"/><Relationship Id="rId32" Type="http://schemas.openxmlformats.org/officeDocument/2006/relationships/font" Target="fonts/Lora-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ortswigger.net/academy/labs/launch/801987a32f892c6549fd2d5650bb4bd0778fff3d9430fd3bd3c41b6063acf904?referrer=%2fweb-security%2fllm-attacks%2flab-exploiting-llm-apis-with-excessive-agency"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7729d08b43_2_4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7729d08b43_2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700">
                <a:solidFill>
                  <a:schemeClr val="dk1"/>
                </a:solidFill>
                <a:latin typeface="Lora"/>
                <a:ea typeface="Lora"/>
                <a:cs typeface="Lora"/>
                <a:sym typeface="Lora"/>
              </a:rPr>
              <a:t>Intro</a:t>
            </a:r>
            <a:r>
              <a:rPr b="1" lang="en" sz="1700">
                <a:solidFill>
                  <a:schemeClr val="dk1"/>
                </a:solidFill>
                <a:latin typeface="Lora"/>
                <a:ea typeface="Lora"/>
                <a:cs typeface="Lora"/>
                <a:sym typeface="Lora"/>
              </a:rPr>
              <a:t> (1 minute)</a:t>
            </a:r>
            <a:endParaRPr b="1" sz="1700">
              <a:solidFill>
                <a:schemeClr val="dk1"/>
              </a:solidFill>
              <a:latin typeface="Lora"/>
              <a:ea typeface="Lora"/>
              <a:cs typeface="Lora"/>
              <a:sym typeface="Lora"/>
            </a:endParaRPr>
          </a:p>
          <a:p>
            <a:pPr indent="0" lvl="0" marL="0" rtl="0" algn="l">
              <a:lnSpc>
                <a:spcPct val="100000"/>
              </a:lnSpc>
              <a:spcBef>
                <a:spcPts val="1200"/>
              </a:spcBef>
              <a:spcAft>
                <a:spcPts val="0"/>
              </a:spcAft>
              <a:buSzPts val="1100"/>
              <a:buNone/>
            </a:pPr>
            <a:r>
              <a:rPr lang="en"/>
              <a:t>Share my background, </a:t>
            </a:r>
            <a:r>
              <a:rPr lang="en"/>
              <a:t>establish credentials, share why ethical hacking matters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Transition: </a:t>
            </a:r>
            <a:endParaRPr/>
          </a:p>
          <a:p>
            <a:pPr indent="0" lvl="0" marL="0" rtl="0" algn="l">
              <a:lnSpc>
                <a:spcPct val="100000"/>
              </a:lnSpc>
              <a:spcBef>
                <a:spcPts val="0"/>
              </a:spcBef>
              <a:spcAft>
                <a:spcPts val="0"/>
              </a:spcAft>
              <a:buSzPts val="1100"/>
              <a:buNone/>
            </a:pPr>
            <a:r>
              <a:rPr lang="en"/>
              <a:t>As i mentioned I’ve been an engineer for 13 years and there’s no doubt things have changed since I got into Tech</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84a66f765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384a66f7659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700">
                <a:solidFill>
                  <a:schemeClr val="dk1"/>
                </a:solidFill>
                <a:latin typeface="Lora"/>
                <a:ea typeface="Lora"/>
                <a:cs typeface="Lora"/>
                <a:sym typeface="Lora"/>
              </a:rPr>
              <a:t>Hook &amp; Opening (3 minutes)</a:t>
            </a:r>
            <a:endParaRPr b="1" sz="1700">
              <a:solidFill>
                <a:schemeClr val="dk1"/>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Lora"/>
                <a:ea typeface="Lora"/>
                <a:cs typeface="Lora"/>
                <a:sym typeface="Lora"/>
              </a:rPr>
              <a:t>We’ve come a long way in technology…</a:t>
            </a:r>
            <a:endParaRPr>
              <a:solidFill>
                <a:schemeClr val="dk1"/>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Lora"/>
                <a:ea typeface="Lora"/>
                <a:cs typeface="Lora"/>
                <a:sym typeface="Lora"/>
              </a:rPr>
              <a:t>From “internet? Not a thing”…  to where we are today -- technology being a fabric of our daily lives. </a:t>
            </a:r>
            <a:endParaRPr>
              <a:solidFill>
                <a:schemeClr val="dk1"/>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Lora"/>
                <a:ea typeface="Lora"/>
                <a:cs typeface="Lora"/>
                <a:sym typeface="Lora"/>
              </a:rPr>
              <a:t>In our rush to accelerate the impact of AI, there’s one thing we often overlook [it’s always easy to]. This one key area that </a:t>
            </a:r>
            <a:r>
              <a:rPr i="1" lang="en">
                <a:solidFill>
                  <a:schemeClr val="dk1"/>
                </a:solidFill>
                <a:latin typeface="Lora"/>
                <a:ea typeface="Lora"/>
                <a:cs typeface="Lora"/>
                <a:sym typeface="Lora"/>
              </a:rPr>
              <a:t>really</a:t>
            </a:r>
            <a:r>
              <a:rPr lang="en">
                <a:solidFill>
                  <a:schemeClr val="dk1"/>
                </a:solidFill>
                <a:latin typeface="Lora"/>
                <a:ea typeface="Lora"/>
                <a:cs typeface="Lora"/>
                <a:sym typeface="Lora"/>
              </a:rPr>
              <a:t> deserves our attention. Security. Let take a look at a real example</a:t>
            </a:r>
            <a:endParaRPr>
              <a:solidFill>
                <a:schemeClr val="dk1"/>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Lora"/>
                <a:ea typeface="Lora"/>
                <a:cs typeface="Lora"/>
                <a:sym typeface="Lora"/>
              </a:rPr>
              <a:t>Start DEMO from PortSwigger: </a:t>
            </a:r>
            <a:r>
              <a:rPr lang="en" u="sng">
                <a:solidFill>
                  <a:schemeClr val="hlink"/>
                </a:solidFill>
                <a:latin typeface="Lora"/>
                <a:ea typeface="Lora"/>
                <a:cs typeface="Lora"/>
                <a:sym typeface="Lora"/>
                <a:hlinkClick r:id="rId2"/>
              </a:rPr>
              <a:t>https://portswigger.net/web-security/llm-attacks</a:t>
            </a:r>
            <a:r>
              <a:rPr lang="en">
                <a:solidFill>
                  <a:schemeClr val="dk1"/>
                </a:solidFill>
                <a:latin typeface="Lora"/>
                <a:ea typeface="Lora"/>
                <a:cs typeface="Lora"/>
                <a:sym typeface="Lora"/>
              </a:rPr>
              <a:t> </a:t>
            </a:r>
            <a:endParaRPr>
              <a:solidFill>
                <a:schemeClr val="dk1"/>
              </a:solidFill>
              <a:latin typeface="Lora"/>
              <a:ea typeface="Lora"/>
              <a:cs typeface="Lora"/>
              <a:sym typeface="Lora"/>
            </a:endParaRPr>
          </a:p>
          <a:p>
            <a:pPr indent="0" lvl="0" marL="0" rtl="0" algn="l">
              <a:lnSpc>
                <a:spcPct val="115000"/>
              </a:lnSpc>
              <a:spcBef>
                <a:spcPts val="1800"/>
              </a:spcBef>
              <a:spcAft>
                <a:spcPts val="0"/>
              </a:spcAft>
              <a:buNone/>
            </a:pPr>
            <a:r>
              <a:rPr b="1" lang="en" sz="1700">
                <a:solidFill>
                  <a:schemeClr val="dk1"/>
                </a:solidFill>
                <a:latin typeface="Lora"/>
                <a:ea typeface="Lora"/>
                <a:cs typeface="Lora"/>
                <a:sym typeface="Lora"/>
              </a:rPr>
              <a:t>Next: Lab: Exploiting LLM APIs with excessive agency</a:t>
            </a:r>
            <a:endParaRPr b="1" sz="1700">
              <a:solidFill>
                <a:schemeClr val="dk1"/>
              </a:solidFill>
              <a:latin typeface="Lora"/>
              <a:ea typeface="Lora"/>
              <a:cs typeface="Lora"/>
              <a:sym typeface="Lor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7729d08b43_2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37729d08b43_2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Attendees will use the QR to connect to HEROKU hosted app hosted in my personal Heroku  account  (not currently up and available)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Outcomes: </a:t>
            </a:r>
            <a:r>
              <a:rPr i="1" lang="en"/>
              <a:t>reading about it </a:t>
            </a:r>
            <a:r>
              <a:rPr lang="en"/>
              <a:t>is one thing, </a:t>
            </a:r>
            <a:r>
              <a:rPr i="1" lang="en"/>
              <a:t>experiencing</a:t>
            </a:r>
            <a:r>
              <a:rPr lang="en"/>
              <a:t> it makes all the difference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7729d08b43_2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g37729d08b43_2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lang="en" sz="1700">
                <a:solidFill>
                  <a:schemeClr val="dk1"/>
                </a:solidFill>
                <a:latin typeface="Lora"/>
                <a:ea typeface="Lora"/>
                <a:cs typeface="Lora"/>
                <a:sym typeface="Lora"/>
              </a:rPr>
              <a:t>Audience Check In</a:t>
            </a:r>
            <a:r>
              <a:rPr lang="en" sz="1700">
                <a:solidFill>
                  <a:schemeClr val="dk1"/>
                </a:solidFill>
                <a:latin typeface="Lora"/>
                <a:ea typeface="Lora"/>
                <a:cs typeface="Lora"/>
                <a:sym typeface="Lora"/>
              </a:rPr>
              <a:t> (2 minutes)</a:t>
            </a:r>
            <a:endParaRPr sz="1700">
              <a:solidFill>
                <a:schemeClr val="dk1"/>
              </a:solidFill>
              <a:latin typeface="Lora"/>
              <a:ea typeface="Lora"/>
              <a:cs typeface="Lora"/>
              <a:sym typeface="Lora"/>
            </a:endParaRPr>
          </a:p>
          <a:p>
            <a:pPr indent="0" lvl="0" marL="0" rtl="0" algn="l">
              <a:lnSpc>
                <a:spcPct val="100000"/>
              </a:lnSpc>
              <a:spcBef>
                <a:spcPts val="400"/>
              </a:spcBef>
              <a:spcAft>
                <a:spcPts val="0"/>
              </a:spcAft>
              <a:buClr>
                <a:schemeClr val="dk1"/>
              </a:buClr>
              <a:buSzPts val="1100"/>
              <a:buFont typeface="Arial"/>
              <a:buNone/>
            </a:pPr>
            <a:r>
              <a:t/>
            </a:r>
            <a:endParaRPr>
              <a:solidFill>
                <a:schemeClr val="dk1"/>
              </a:solidFill>
              <a:latin typeface="Lora"/>
              <a:ea typeface="Lora"/>
              <a:cs typeface="Lora"/>
              <a:sym typeface="Lora"/>
            </a:endParaRPr>
          </a:p>
          <a:p>
            <a:pPr indent="0" lvl="0" marL="0" rtl="0" algn="l">
              <a:spcBef>
                <a:spcPts val="0"/>
              </a:spcBef>
              <a:spcAft>
                <a:spcPts val="0"/>
              </a:spcAft>
              <a:buClr>
                <a:schemeClr val="dk1"/>
              </a:buClr>
              <a:buSzPts val="4680"/>
              <a:buFont typeface="Arial"/>
              <a:buNone/>
            </a:pPr>
            <a:r>
              <a:rPr i="1" lang="en" sz="1200">
                <a:solidFill>
                  <a:schemeClr val="dk1"/>
                </a:solidFill>
                <a:latin typeface="Lora"/>
                <a:ea typeface="Lora"/>
                <a:cs typeface="Lora"/>
                <a:sym typeface="Lora"/>
              </a:rPr>
              <a:t>How many of us have AI solutions in production?</a:t>
            </a:r>
            <a:endParaRPr i="1" sz="1200">
              <a:solidFill>
                <a:schemeClr val="dk1"/>
              </a:solidFill>
              <a:latin typeface="Lora"/>
              <a:ea typeface="Lora"/>
              <a:cs typeface="Lora"/>
              <a:sym typeface="Lora"/>
            </a:endParaRPr>
          </a:p>
          <a:p>
            <a:pPr indent="0" lvl="0" marL="0" rtl="0" algn="l">
              <a:spcBef>
                <a:spcPts val="0"/>
              </a:spcBef>
              <a:spcAft>
                <a:spcPts val="0"/>
              </a:spcAft>
              <a:buClr>
                <a:schemeClr val="dk1"/>
              </a:buClr>
              <a:buSzPts val="4680"/>
              <a:buFont typeface="Arial"/>
              <a:buNone/>
            </a:pPr>
            <a:r>
              <a:rPr i="1" lang="en" sz="1200">
                <a:solidFill>
                  <a:schemeClr val="dk1"/>
                </a:solidFill>
                <a:latin typeface="Lora"/>
                <a:ea typeface="Lora"/>
                <a:cs typeface="Lora"/>
                <a:sym typeface="Lora"/>
              </a:rPr>
              <a:t>How many of us have AI-specific security measures?</a:t>
            </a:r>
            <a:endParaRPr i="1" sz="12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i="1" lang="en" sz="1200">
                <a:solidFill>
                  <a:schemeClr val="dk1"/>
                </a:solidFill>
                <a:latin typeface="Lora"/>
                <a:ea typeface="Lora"/>
                <a:cs typeface="Lora"/>
                <a:sym typeface="Lora"/>
              </a:rPr>
              <a:t>Let’s see what the data says.</a:t>
            </a:r>
            <a:endParaRPr i="1" sz="12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Lora"/>
                <a:ea typeface="Lora"/>
                <a:cs typeface="Lora"/>
                <a:sym typeface="Lora"/>
              </a:rPr>
              <a:t>The AI Security Paradox: "We’re planning to made our apps smarter, our customer experiences better, but will we also make them more vulnerable?"</a:t>
            </a:r>
            <a:endParaRPr>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b="1" lang="en" sz="1400">
                <a:solidFill>
                  <a:schemeClr val="dk1"/>
                </a:solidFill>
                <a:latin typeface="Lora"/>
                <a:ea typeface="Lora"/>
                <a:cs typeface="Lora"/>
                <a:sym typeface="Lora"/>
              </a:rPr>
              <a:t>T</a:t>
            </a:r>
            <a:r>
              <a:rPr b="1" lang="en" sz="1400">
                <a:solidFill>
                  <a:schemeClr val="dk1"/>
                </a:solidFill>
                <a:latin typeface="Lora"/>
                <a:ea typeface="Lora"/>
                <a:cs typeface="Lora"/>
                <a:sym typeface="Lora"/>
              </a:rPr>
              <a:t>ransition</a:t>
            </a:r>
            <a:r>
              <a:rPr b="1" lang="en" sz="1400">
                <a:solidFill>
                  <a:schemeClr val="dk1"/>
                </a:solidFill>
                <a:latin typeface="Lora"/>
                <a:ea typeface="Lora"/>
                <a:cs typeface="Lora"/>
                <a:sym typeface="Lora"/>
              </a:rPr>
              <a:t>: What makes this even more troubling is ….</a:t>
            </a:r>
            <a:endParaRPr b="1" sz="1400">
              <a:solidFill>
                <a:schemeClr val="dk1"/>
              </a:solidFill>
              <a:latin typeface="Lora"/>
              <a:ea typeface="Lora"/>
              <a:cs typeface="Lora"/>
              <a:sym typeface="Lor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87d2c409a5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87d2c409a5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800"/>
              </a:spcBef>
              <a:spcAft>
                <a:spcPts val="0"/>
              </a:spcAft>
              <a:buSzPts val="1100"/>
              <a:buNone/>
            </a:pPr>
            <a:r>
              <a:rPr b="1" lang="en" sz="1700">
                <a:solidFill>
                  <a:schemeClr val="dk1"/>
                </a:solidFill>
                <a:latin typeface="Lora"/>
                <a:ea typeface="Lora"/>
                <a:cs typeface="Lora"/>
                <a:sym typeface="Lora"/>
              </a:rPr>
              <a:t>At the same time, life is getting easier for attackers</a:t>
            </a:r>
            <a:endParaRPr b="1" sz="1700">
              <a:solidFill>
                <a:schemeClr val="dk1"/>
              </a:solidFill>
              <a:latin typeface="Lora"/>
              <a:ea typeface="Lora"/>
              <a:cs typeface="Lora"/>
              <a:sym typeface="Lora"/>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Attackers are able to do a lot more with a lot less </a:t>
            </a:r>
            <a:r>
              <a:rPr b="1" lang="en" sz="1300">
                <a:solidFill>
                  <a:schemeClr val="dk1"/>
                </a:solidFill>
              </a:rPr>
              <a:t>because</a:t>
            </a:r>
            <a:r>
              <a:rPr b="1" lang="en" sz="1300">
                <a:solidFill>
                  <a:schemeClr val="dk1"/>
                </a:solidFill>
              </a:rPr>
              <a:t> </a:t>
            </a:r>
            <a:r>
              <a:rPr b="1" lang="en" sz="1300">
                <a:solidFill>
                  <a:schemeClr val="dk1"/>
                </a:solidFill>
              </a:rPr>
              <a:t>AI serves as a Force Multiplier for Cyberattacks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Phishing and Social Engineering</a:t>
            </a:r>
            <a:r>
              <a:rPr lang="en">
                <a:solidFill>
                  <a:schemeClr val="dk1"/>
                </a:solidFill>
              </a:rPr>
              <a:t>: A 2025 report by Hoxhunt, a cybersecurity company, found that their "AI Spear Phishing Agent" outperformed their elite human red teams by </a:t>
            </a:r>
            <a:r>
              <a:rPr b="1" lang="en">
                <a:solidFill>
                  <a:schemeClr val="dk1"/>
                </a:solidFill>
              </a:rPr>
              <a:t>23.8%</a:t>
            </a:r>
            <a:r>
              <a:rPr lang="en">
                <a:solidFill>
                  <a:schemeClr val="dk1"/>
                </a:solidFill>
              </a:rPr>
              <a:t>, or </a:t>
            </a:r>
            <a:r>
              <a:rPr b="1" lang="en">
                <a:solidFill>
                  <a:schemeClr val="dk1"/>
                </a:solidFill>
              </a:rPr>
              <a:t>55%</a:t>
            </a:r>
            <a:r>
              <a:rPr lang="en">
                <a:solidFill>
                  <a:schemeClr val="dk1"/>
                </a:solidFill>
              </a:rPr>
              <a:t> over a two-year period, at creating effective phishing campaigns. The study concluded that by March 2025, AI surpassed human teams at all user skill levels. The report also notes a </a:t>
            </a:r>
            <a:r>
              <a:rPr b="1" lang="en">
                <a:solidFill>
                  <a:schemeClr val="dk1"/>
                </a:solidFill>
              </a:rPr>
              <a:t>4,151% increase</a:t>
            </a:r>
            <a:r>
              <a:rPr lang="en">
                <a:solidFill>
                  <a:schemeClr val="dk1"/>
                </a:solidFill>
              </a:rPr>
              <a:t> in total phishing volume since the public release of ChatGPT, indicating a massive scaling of attacks. A study published on arXiv.org in mid-2025 found that LLM-generated messages are often perceived as more convincing than those authored by humans, particularly for job-related messages, with a click rate of 28% for AI-generated messages versus 21.33% for human-generated ones.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Malware and Ransomware</a:t>
            </a:r>
            <a:r>
              <a:rPr lang="en">
                <a:solidFill>
                  <a:schemeClr val="dk1"/>
                </a:solidFill>
              </a:rPr>
              <a:t>: New research from the Cybersecurity at MIT Sloan (CAMS) and Safe Security, published in late 2025, found that </a:t>
            </a:r>
            <a:r>
              <a:rPr b="1" lang="en">
                <a:solidFill>
                  <a:schemeClr val="dk1"/>
                </a:solidFill>
              </a:rPr>
              <a:t>80% of ransomware attacks</a:t>
            </a:r>
            <a:r>
              <a:rPr lang="en">
                <a:solidFill>
                  <a:schemeClr val="dk1"/>
                </a:solidFill>
              </a:rPr>
              <a:t> are now powered by AI. This research, based on an analysis of over 2,800 ransomware incidents, highlights how AI is used for everything from creating polymorphic malware to automating the entire attack lifecycle.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Deepfakes and Impersonation</a:t>
            </a:r>
            <a:r>
              <a:rPr lang="en">
                <a:solidFill>
                  <a:schemeClr val="dk1"/>
                </a:solidFill>
              </a:rPr>
              <a:t>: the FBI's 2025 Internet Crime Report highlighted a significant increase in Business Email Compromise (BEC) and similar schemes where deepfake voice and video technology were used to impersonate executives and trick employees. A specific, well-publicized case involved an international company that was scammed out of </a:t>
            </a:r>
            <a:r>
              <a:rPr b="1" lang="en">
                <a:solidFill>
                  <a:schemeClr val="dk1"/>
                </a:solidFill>
              </a:rPr>
              <a:t>$25 million</a:t>
            </a:r>
            <a:r>
              <a:rPr lang="en">
                <a:solidFill>
                  <a:schemeClr val="dk1"/>
                </a:solidFill>
              </a:rPr>
              <a:t> after attackers used AI-generated voice clones of senior executives on a video conference call.</a:t>
            </a:r>
            <a:endParaRPr>
              <a:solidFill>
                <a:schemeClr val="dk1"/>
              </a:solidFill>
            </a:endParaRPr>
          </a:p>
          <a:p>
            <a:pPr indent="0" lvl="0" marL="0" rtl="0" algn="l">
              <a:lnSpc>
                <a:spcPct val="115000"/>
              </a:lnSpc>
              <a:spcBef>
                <a:spcPts val="1200"/>
              </a:spcBef>
              <a:spcAft>
                <a:spcPts val="0"/>
              </a:spcAft>
              <a:buSzPts val="1100"/>
              <a:buNone/>
            </a:pPr>
            <a:r>
              <a:rPr b="1" lang="en" sz="1700">
                <a:solidFill>
                  <a:schemeClr val="dk1"/>
                </a:solidFill>
                <a:latin typeface="Lora"/>
                <a:ea typeface="Lora"/>
                <a:cs typeface="Lora"/>
                <a:sym typeface="Lora"/>
              </a:rPr>
              <a:t>Transition: </a:t>
            </a:r>
            <a:r>
              <a:rPr lang="en">
                <a:solidFill>
                  <a:schemeClr val="dk1"/>
                </a:solidFill>
              </a:rPr>
              <a:t>Script kiddies are having a parade right now with AI, heres an example  </a:t>
            </a:r>
            <a:endParaRPr>
              <a:solidFill>
                <a:schemeClr val="dk1"/>
              </a:solidFill>
            </a:endParaRPr>
          </a:p>
          <a:p>
            <a:pPr indent="0" lvl="0" marL="0" rtl="0" algn="l">
              <a:lnSpc>
                <a:spcPct val="100000"/>
              </a:lnSpc>
              <a:spcBef>
                <a:spcPts val="1800"/>
              </a:spcBef>
              <a:spcAft>
                <a:spcPts val="0"/>
              </a:spcAft>
              <a:buSzPts val="1100"/>
              <a:buNone/>
            </a:pPr>
            <a:r>
              <a:t/>
            </a:r>
            <a:endParaRPr b="1" sz="1700">
              <a:solidFill>
                <a:schemeClr val="dk1"/>
              </a:solidFill>
              <a:latin typeface="Lora"/>
              <a:ea typeface="Lora"/>
              <a:cs typeface="Lora"/>
              <a:sym typeface="Lor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87d2c409a5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387d2c409a5_0_2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800"/>
              </a:spcBef>
              <a:spcAft>
                <a:spcPts val="0"/>
              </a:spcAft>
              <a:buClr>
                <a:schemeClr val="dk1"/>
              </a:buClr>
              <a:buSzPts val="1100"/>
              <a:buFont typeface="Lora"/>
              <a:buChar char="●"/>
            </a:pPr>
            <a:r>
              <a:rPr lang="en">
                <a:solidFill>
                  <a:schemeClr val="dk1"/>
                </a:solidFill>
                <a:latin typeface="Lora"/>
                <a:ea typeface="Lora"/>
                <a:cs typeface="Lora"/>
                <a:sym typeface="Lora"/>
              </a:rPr>
              <a:t>Conduct reconnaissance by scanning thousands of systems to identify vulnerabilities.</a:t>
            </a:r>
            <a:endParaRPr>
              <a:solidFill>
                <a:schemeClr val="dk1"/>
              </a:solidFill>
              <a:latin typeface="Lora"/>
              <a:ea typeface="Lora"/>
              <a:cs typeface="Lora"/>
              <a:sym typeface="Lora"/>
            </a:endParaRPr>
          </a:p>
          <a:p>
            <a:pPr indent="-298450" lvl="0" marL="457200" rtl="0" algn="l">
              <a:lnSpc>
                <a:spcPct val="150000"/>
              </a:lnSpc>
              <a:spcBef>
                <a:spcPts val="0"/>
              </a:spcBef>
              <a:spcAft>
                <a:spcPts val="0"/>
              </a:spcAft>
              <a:buClr>
                <a:schemeClr val="dk1"/>
              </a:buClr>
              <a:buSzPts val="1100"/>
              <a:buFont typeface="Lora"/>
              <a:buChar char="●"/>
            </a:pPr>
            <a:r>
              <a:rPr lang="en">
                <a:solidFill>
                  <a:schemeClr val="dk1"/>
                </a:solidFill>
                <a:latin typeface="Lora"/>
                <a:ea typeface="Lora"/>
                <a:cs typeface="Lora"/>
                <a:sym typeface="Lora"/>
              </a:rPr>
              <a:t>Create malware and custom hacking tools to infiltrate networks and evade security defenses.</a:t>
            </a:r>
            <a:endParaRPr>
              <a:solidFill>
                <a:schemeClr val="dk1"/>
              </a:solidFill>
              <a:latin typeface="Lora"/>
              <a:ea typeface="Lora"/>
              <a:cs typeface="Lora"/>
              <a:sym typeface="Lora"/>
            </a:endParaRPr>
          </a:p>
          <a:p>
            <a:pPr indent="-298450" lvl="0" marL="457200" rtl="0" algn="l">
              <a:lnSpc>
                <a:spcPct val="150000"/>
              </a:lnSpc>
              <a:spcBef>
                <a:spcPts val="0"/>
              </a:spcBef>
              <a:spcAft>
                <a:spcPts val="0"/>
              </a:spcAft>
              <a:buClr>
                <a:schemeClr val="dk1"/>
              </a:buClr>
              <a:buSzPts val="1100"/>
              <a:buFont typeface="Lora"/>
              <a:buChar char="●"/>
            </a:pPr>
            <a:r>
              <a:rPr lang="en">
                <a:solidFill>
                  <a:schemeClr val="dk1"/>
                </a:solidFill>
                <a:latin typeface="Lora"/>
                <a:ea typeface="Lora"/>
                <a:cs typeface="Lora"/>
                <a:sym typeface="Lora"/>
              </a:rPr>
              <a:t>Analyze stolen data, such as financial information and health records, to determine the most effective ransom amounts.</a:t>
            </a:r>
            <a:endParaRPr>
              <a:solidFill>
                <a:schemeClr val="dk1"/>
              </a:solidFill>
              <a:latin typeface="Lora"/>
              <a:ea typeface="Lora"/>
              <a:cs typeface="Lora"/>
              <a:sym typeface="Lora"/>
            </a:endParaRPr>
          </a:p>
          <a:p>
            <a:pPr indent="-298450" lvl="0" marL="457200" rtl="0" algn="l">
              <a:lnSpc>
                <a:spcPct val="150000"/>
              </a:lnSpc>
              <a:spcBef>
                <a:spcPts val="0"/>
              </a:spcBef>
              <a:spcAft>
                <a:spcPts val="0"/>
              </a:spcAft>
              <a:buClr>
                <a:schemeClr val="dk1"/>
              </a:buClr>
              <a:buSzPts val="1100"/>
              <a:buFont typeface="Lora"/>
              <a:buChar char="●"/>
            </a:pPr>
            <a:r>
              <a:rPr lang="en">
                <a:solidFill>
                  <a:schemeClr val="dk1"/>
                </a:solidFill>
                <a:latin typeface="Lora"/>
                <a:ea typeface="Lora"/>
                <a:cs typeface="Lora"/>
                <a:sym typeface="Lora"/>
              </a:rPr>
              <a:t>Craft "psychologically targeted" extortion demands and ransom notes based on the victim's industry, size, and finances. </a:t>
            </a:r>
            <a:endParaRPr>
              <a:solidFill>
                <a:schemeClr val="dk1"/>
              </a:solidFill>
              <a:latin typeface="Lora"/>
              <a:ea typeface="Lora"/>
              <a:cs typeface="Lora"/>
              <a:sym typeface="Lora"/>
            </a:endParaRPr>
          </a:p>
          <a:p>
            <a:pPr indent="0" lvl="0" marL="0" rtl="0" algn="l">
              <a:lnSpc>
                <a:spcPct val="150000"/>
              </a:lnSpc>
              <a:spcBef>
                <a:spcPts val="2700"/>
              </a:spcBef>
              <a:spcAft>
                <a:spcPts val="0"/>
              </a:spcAft>
              <a:buNone/>
            </a:pPr>
            <a:r>
              <a:rPr lang="en" sz="1200">
                <a:solidFill>
                  <a:schemeClr val="dk1"/>
                </a:solidFill>
                <a:latin typeface="Lora"/>
                <a:ea typeface="Lora"/>
                <a:cs typeface="Lora"/>
                <a:sym typeface="Lora"/>
              </a:rPr>
              <a:t>What makes this story unique is it was done by a person without much experience. This would typically require a team of experts </a:t>
            </a:r>
            <a:endParaRPr>
              <a:solidFill>
                <a:schemeClr val="dk1"/>
              </a:solidFill>
              <a:latin typeface="Lora"/>
              <a:ea typeface="Lora"/>
              <a:cs typeface="Lora"/>
              <a:sym typeface="Lora"/>
            </a:endParaRPr>
          </a:p>
          <a:p>
            <a:pPr indent="0" lvl="0" marL="0" rtl="0" algn="l">
              <a:lnSpc>
                <a:spcPct val="100000"/>
              </a:lnSpc>
              <a:spcBef>
                <a:spcPts val="1800"/>
              </a:spcBef>
              <a:spcAft>
                <a:spcPts val="0"/>
              </a:spcAft>
              <a:buSzPts val="1100"/>
              <a:buNone/>
            </a:pPr>
            <a:r>
              <a:rPr b="1" lang="en" sz="1700">
                <a:solidFill>
                  <a:schemeClr val="dk1"/>
                </a:solidFill>
                <a:latin typeface="Lora"/>
                <a:ea typeface="Lora"/>
                <a:cs typeface="Lora"/>
                <a:sym typeface="Lora"/>
              </a:rPr>
              <a:t>Transition: Let’s zoom out to take a look at the top risks facing companies</a:t>
            </a:r>
            <a:endParaRPr b="1" sz="1700">
              <a:solidFill>
                <a:schemeClr val="dk1"/>
              </a:solidFill>
              <a:latin typeface="Lora"/>
              <a:ea typeface="Lora"/>
              <a:cs typeface="Lora"/>
              <a:sym typeface="Lor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87d2c409a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387d2c409a5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latin typeface="Lora"/>
                <a:ea typeface="Lora"/>
                <a:cs typeface="Lora"/>
                <a:sym typeface="Lora"/>
              </a:rPr>
              <a:t>Inform on OWASP (4 minutes)</a:t>
            </a:r>
            <a:endParaRPr b="1" sz="2100">
              <a:solidFill>
                <a:srgbClr val="262B45"/>
              </a:solidFill>
              <a:latin typeface="Lora"/>
              <a:ea typeface="Lora"/>
              <a:cs typeface="Lora"/>
              <a:sym typeface="Lora"/>
            </a:endParaRPr>
          </a:p>
          <a:p>
            <a:pPr indent="0" lvl="0" marL="0" rtl="0" algn="l">
              <a:lnSpc>
                <a:spcPct val="115000"/>
              </a:lnSpc>
              <a:spcBef>
                <a:spcPts val="1800"/>
              </a:spcBef>
              <a:spcAft>
                <a:spcPts val="0"/>
              </a:spcAft>
              <a:buClr>
                <a:schemeClr val="dk1"/>
              </a:buClr>
              <a:buSzPts val="1100"/>
              <a:buFont typeface="Arial"/>
              <a:buNone/>
            </a:pPr>
            <a:r>
              <a:rPr lang="en" sz="1000">
                <a:solidFill>
                  <a:srgbClr val="262B45"/>
                </a:solidFill>
                <a:latin typeface="Lora"/>
                <a:ea typeface="Lora"/>
                <a:cs typeface="Lora"/>
                <a:sym typeface="Lora"/>
              </a:rPr>
              <a:t>1. Prompt Injection - Attackers manipulate LLMs through natural language inputs to convince them to access or do things they shouldn't . Direct injections exploit backend systems with attacker input, while indirect injections use external sources like malicious websites . Prevention is nearly impossible, so assume attackers can always find a way and limit LLM access to sensitive data.</a:t>
            </a:r>
            <a:endParaRPr sz="1000">
              <a:solidFill>
                <a:srgbClr val="262B45"/>
              </a:solidFill>
              <a:latin typeface="Lora"/>
              <a:ea typeface="Lora"/>
              <a:cs typeface="Lora"/>
              <a:sym typeface="Lora"/>
            </a:endParaRPr>
          </a:p>
          <a:p>
            <a:pPr indent="0" lvl="0" marL="0" rtl="0" algn="l">
              <a:lnSpc>
                <a:spcPct val="115000"/>
              </a:lnSpc>
              <a:spcBef>
                <a:spcPts val="1800"/>
              </a:spcBef>
              <a:spcAft>
                <a:spcPts val="0"/>
              </a:spcAft>
              <a:buClr>
                <a:schemeClr val="dk1"/>
              </a:buClr>
              <a:buSzPts val="1100"/>
              <a:buFont typeface="Arial"/>
              <a:buNone/>
            </a:pPr>
            <a:r>
              <a:rPr lang="en" sz="1000">
                <a:solidFill>
                  <a:srgbClr val="262B45"/>
                </a:solidFill>
                <a:latin typeface="Lora"/>
                <a:ea typeface="Lora"/>
                <a:cs typeface="Lora"/>
                <a:sym typeface="Lora"/>
              </a:rPr>
              <a:t>2. Insecure Output Handling - This occurs when LLMs directly access data or execute functions without proper validation checks, potentially leading to cross-site scripting or remote code execution . Always validate what the model is trying to do before executing operations.</a:t>
            </a:r>
            <a:endParaRPr sz="1000">
              <a:solidFill>
                <a:srgbClr val="262B45"/>
              </a:solidFill>
              <a:latin typeface="Lora"/>
              <a:ea typeface="Lora"/>
              <a:cs typeface="Lora"/>
              <a:sym typeface="Lora"/>
            </a:endParaRPr>
          </a:p>
          <a:p>
            <a:pPr indent="0" lvl="0" marL="0" rtl="0" algn="l">
              <a:lnSpc>
                <a:spcPct val="115000"/>
              </a:lnSpc>
              <a:spcBef>
                <a:spcPts val="1800"/>
              </a:spcBef>
              <a:spcAft>
                <a:spcPts val="0"/>
              </a:spcAft>
              <a:buClr>
                <a:schemeClr val="dk1"/>
              </a:buClr>
              <a:buSzPts val="1100"/>
              <a:buFont typeface="Arial"/>
              <a:buNone/>
            </a:pPr>
            <a:r>
              <a:rPr lang="en" sz="1000">
                <a:solidFill>
                  <a:srgbClr val="262B45"/>
                </a:solidFill>
                <a:latin typeface="Lora"/>
                <a:ea typeface="Lora"/>
                <a:cs typeface="Lora"/>
                <a:sym typeface="Lora"/>
              </a:rPr>
              <a:t>3. Training Data Poisoning - Attackers manipulate training data or fine-tuning processes to make LLM output less secure, more biased, or less effective . Verification is challenging given the massive amount of training data, so sandboxing is recommended to ensure datasets don't use unvalidated sources .</a:t>
            </a:r>
            <a:endParaRPr sz="1000">
              <a:solidFill>
                <a:srgbClr val="262B45"/>
              </a:solidFill>
              <a:latin typeface="Lora"/>
              <a:ea typeface="Lora"/>
              <a:cs typeface="Lora"/>
              <a:sym typeface="Lora"/>
            </a:endParaRPr>
          </a:p>
          <a:p>
            <a:pPr indent="0" lvl="0" marL="0" rtl="0" algn="l">
              <a:lnSpc>
                <a:spcPct val="115000"/>
              </a:lnSpc>
              <a:spcBef>
                <a:spcPts val="1800"/>
              </a:spcBef>
              <a:spcAft>
                <a:spcPts val="0"/>
              </a:spcAft>
              <a:buClr>
                <a:schemeClr val="dk1"/>
              </a:buClr>
              <a:buSzPts val="1100"/>
              <a:buFont typeface="Arial"/>
              <a:buNone/>
            </a:pPr>
            <a:r>
              <a:rPr lang="en" sz="1000">
                <a:solidFill>
                  <a:srgbClr val="262B45"/>
                </a:solidFill>
                <a:latin typeface="Lora"/>
                <a:ea typeface="Lora"/>
                <a:cs typeface="Lora"/>
                <a:sym typeface="Lora"/>
              </a:rPr>
              <a:t>4. Model Denial of Service - Attackers provide input designed to consume excessive resources and create a denial of service . Mitigate by using framework protections like iteration limits, input validation, and rate limiting.</a:t>
            </a:r>
            <a:endParaRPr sz="1000">
              <a:solidFill>
                <a:srgbClr val="262B45"/>
              </a:solidFill>
              <a:latin typeface="Lora"/>
              <a:ea typeface="Lora"/>
              <a:cs typeface="Lora"/>
              <a:sym typeface="Lora"/>
            </a:endParaRPr>
          </a:p>
          <a:p>
            <a:pPr indent="0" lvl="0" marL="0" rtl="0" algn="l">
              <a:lnSpc>
                <a:spcPct val="115000"/>
              </a:lnSpc>
              <a:spcBef>
                <a:spcPts val="1800"/>
              </a:spcBef>
              <a:spcAft>
                <a:spcPts val="0"/>
              </a:spcAft>
              <a:buClr>
                <a:schemeClr val="dk1"/>
              </a:buClr>
              <a:buSzPts val="1100"/>
              <a:buFont typeface="Arial"/>
              <a:buNone/>
            </a:pPr>
            <a:r>
              <a:rPr lang="en" sz="1000">
                <a:solidFill>
                  <a:srgbClr val="262B45"/>
                </a:solidFill>
                <a:latin typeface="Lora"/>
                <a:ea typeface="Lora"/>
                <a:cs typeface="Lora"/>
                <a:sym typeface="Lora"/>
              </a:rPr>
              <a:t>5. Supply Chain Vulnerabilities - Training data from third parties and LLM plugin extensions can introduce risks . Ensure trust and attestation in third-party sources, and consider future standards like AI bill of materials (AIBOM).</a:t>
            </a:r>
            <a:endParaRPr sz="1000">
              <a:solidFill>
                <a:srgbClr val="262B45"/>
              </a:solidFill>
              <a:latin typeface="Lora"/>
              <a:ea typeface="Lora"/>
              <a:cs typeface="Lora"/>
              <a:sym typeface="Lora"/>
            </a:endParaRPr>
          </a:p>
          <a:p>
            <a:pPr indent="0" lvl="0" marL="0" rtl="0" algn="l">
              <a:lnSpc>
                <a:spcPct val="115000"/>
              </a:lnSpc>
              <a:spcBef>
                <a:spcPts val="1800"/>
              </a:spcBef>
              <a:spcAft>
                <a:spcPts val="0"/>
              </a:spcAft>
              <a:buClr>
                <a:schemeClr val="dk1"/>
              </a:buClr>
              <a:buSzPts val="1100"/>
              <a:buFont typeface="Arial"/>
              <a:buNone/>
            </a:pPr>
            <a:r>
              <a:rPr lang="en" sz="1000">
                <a:solidFill>
                  <a:srgbClr val="262B45"/>
                </a:solidFill>
                <a:latin typeface="Lora"/>
                <a:ea typeface="Lora"/>
                <a:cs typeface="Lora"/>
                <a:sym typeface="Lora"/>
              </a:rPr>
              <a:t>6. Sensitive Information Disclosure - Prompt injection can trick models into disclosing confidential data in unauthorized ways since LLMs lack typical access control mechanisms . Only provide necessary data, and add validation layers both before and after LLM interactions.</a:t>
            </a:r>
            <a:endParaRPr sz="1000">
              <a:solidFill>
                <a:srgbClr val="262B45"/>
              </a:solidFill>
              <a:latin typeface="Lora"/>
              <a:ea typeface="Lora"/>
              <a:cs typeface="Lora"/>
              <a:sym typeface="Lora"/>
            </a:endParaRPr>
          </a:p>
          <a:p>
            <a:pPr indent="0" lvl="0" marL="0" rtl="0" algn="l">
              <a:lnSpc>
                <a:spcPct val="115000"/>
              </a:lnSpc>
              <a:spcBef>
                <a:spcPts val="1800"/>
              </a:spcBef>
              <a:spcAft>
                <a:spcPts val="0"/>
              </a:spcAft>
              <a:buClr>
                <a:schemeClr val="dk1"/>
              </a:buClr>
              <a:buSzPts val="1100"/>
              <a:buFont typeface="Arial"/>
              <a:buNone/>
            </a:pPr>
            <a:r>
              <a:rPr lang="en" sz="1000">
                <a:solidFill>
                  <a:srgbClr val="262B45"/>
                </a:solidFill>
                <a:latin typeface="Lora"/>
                <a:ea typeface="Lora"/>
                <a:cs typeface="Lora"/>
                <a:sym typeface="Lora"/>
              </a:rPr>
              <a:t>7. Insecure Plugin Design - Plugins that perform specific tasks can be exploited through malicious input . Treat LLM output as user input, design clear interactions with distinct parameters rather than parsing text strings, and follow OWASP API security best practices.</a:t>
            </a:r>
            <a:endParaRPr sz="1000">
              <a:solidFill>
                <a:srgbClr val="262B45"/>
              </a:solidFill>
              <a:latin typeface="Lora"/>
              <a:ea typeface="Lora"/>
              <a:cs typeface="Lora"/>
              <a:sym typeface="Lora"/>
            </a:endParaRPr>
          </a:p>
          <a:p>
            <a:pPr indent="0" lvl="0" marL="0" rtl="0" algn="l">
              <a:lnSpc>
                <a:spcPct val="115000"/>
              </a:lnSpc>
              <a:spcBef>
                <a:spcPts val="1800"/>
              </a:spcBef>
              <a:spcAft>
                <a:spcPts val="0"/>
              </a:spcAft>
              <a:buClr>
                <a:schemeClr val="dk1"/>
              </a:buClr>
              <a:buSzPts val="1100"/>
              <a:buFont typeface="Arial"/>
              <a:buNone/>
            </a:pPr>
            <a:r>
              <a:rPr lang="en" sz="1000">
                <a:solidFill>
                  <a:srgbClr val="262B45"/>
                </a:solidFill>
                <a:latin typeface="Lora"/>
                <a:ea typeface="Lora"/>
                <a:cs typeface="Lora"/>
                <a:sym typeface="Lora"/>
              </a:rPr>
              <a:t>8. Excessive Agency - LLMs may invoke functionality in malicious or unexpected ways, including having access to overly broad plugins, excessive permissions beyond least privilege, or performing damaging actions automatically without user interaction .</a:t>
            </a:r>
            <a:endParaRPr sz="1000">
              <a:solidFill>
                <a:srgbClr val="262B45"/>
              </a:solidFill>
              <a:latin typeface="Lora"/>
              <a:ea typeface="Lora"/>
              <a:cs typeface="Lora"/>
              <a:sym typeface="Lora"/>
            </a:endParaRPr>
          </a:p>
          <a:p>
            <a:pPr indent="0" lvl="0" marL="0" rtl="0" algn="l">
              <a:lnSpc>
                <a:spcPct val="115000"/>
              </a:lnSpc>
              <a:spcBef>
                <a:spcPts val="1800"/>
              </a:spcBef>
              <a:spcAft>
                <a:spcPts val="0"/>
              </a:spcAft>
              <a:buClr>
                <a:schemeClr val="dk1"/>
              </a:buClr>
              <a:buSzPts val="1100"/>
              <a:buFont typeface="Arial"/>
              <a:buNone/>
            </a:pPr>
            <a:r>
              <a:rPr lang="en" sz="1000">
                <a:solidFill>
                  <a:srgbClr val="262B45"/>
                </a:solidFill>
                <a:latin typeface="Lora"/>
                <a:ea typeface="Lora"/>
                <a:cs typeface="Lora"/>
                <a:sym typeface="Lora"/>
              </a:rPr>
              <a:t>9. Overreliance - Users incorrectly assume LLM outputs are always correct, secure, and appropriate . LLM-generated code can introduce security vulnerabilities, with studies showing AI tools may produce less secure code than human developers . Always code review and security test AI-generated content.</a:t>
            </a:r>
            <a:endParaRPr sz="1000">
              <a:solidFill>
                <a:srgbClr val="262B45"/>
              </a:solidFill>
              <a:latin typeface="Lora"/>
              <a:ea typeface="Lora"/>
              <a:cs typeface="Lora"/>
              <a:sym typeface="Lora"/>
            </a:endParaRPr>
          </a:p>
          <a:p>
            <a:pPr indent="0" lvl="0" marL="0" rtl="0" algn="l">
              <a:lnSpc>
                <a:spcPct val="115000"/>
              </a:lnSpc>
              <a:spcBef>
                <a:spcPts val="1800"/>
              </a:spcBef>
              <a:spcAft>
                <a:spcPts val="0"/>
              </a:spcAft>
              <a:buClr>
                <a:schemeClr val="dk1"/>
              </a:buClr>
              <a:buSzPts val="1100"/>
              <a:buFont typeface="Arial"/>
              <a:buNone/>
            </a:pPr>
            <a:r>
              <a:rPr lang="en" sz="1000">
                <a:solidFill>
                  <a:srgbClr val="262B45"/>
                </a:solidFill>
                <a:latin typeface="Lora"/>
                <a:ea typeface="Lora"/>
                <a:cs typeface="Lora"/>
                <a:sym typeface="Lora"/>
              </a:rPr>
              <a:t>10. Model Theft - Unauthorized access to LLMs through physical theft, copying, or leaking, potentially by disgruntled employees . Implement standard security controls like RBAC to protect this valuable intellectual property.</a:t>
            </a:r>
            <a:endParaRPr sz="1000">
              <a:solidFill>
                <a:srgbClr val="262B45"/>
              </a:solidFill>
              <a:latin typeface="Lora"/>
              <a:ea typeface="Lora"/>
              <a:cs typeface="Lora"/>
              <a:sym typeface="Lora"/>
            </a:endParaRPr>
          </a:p>
          <a:p>
            <a:pPr indent="0" lvl="0" marL="0" rtl="0" algn="l">
              <a:lnSpc>
                <a:spcPct val="115000"/>
              </a:lnSpc>
              <a:spcBef>
                <a:spcPts val="1800"/>
              </a:spcBef>
              <a:spcAft>
                <a:spcPts val="0"/>
              </a:spcAft>
              <a:buNone/>
            </a:pPr>
            <a:r>
              <a:t/>
            </a:r>
            <a:endParaRPr b="1" sz="1000">
              <a:solidFill>
                <a:srgbClr val="262B45"/>
              </a:solidFill>
              <a:latin typeface="Lora"/>
              <a:ea typeface="Lora"/>
              <a:cs typeface="Lora"/>
              <a:sym typeface="Lor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87d2c409a5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387d2c409a5_0_2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latin typeface="Lora"/>
                <a:ea typeface="Lora"/>
                <a:cs typeface="Lora"/>
                <a:sym typeface="Lora"/>
              </a:rPr>
              <a:t>Demo to Grab Attention (5 minutes)</a:t>
            </a:r>
            <a:endParaRPr b="1" sz="1700">
              <a:solidFill>
                <a:schemeClr val="dk1"/>
              </a:solidFill>
              <a:latin typeface="Lora"/>
              <a:ea typeface="Lora"/>
              <a:cs typeface="Lora"/>
              <a:sym typeface="Lora"/>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latin typeface="Lora"/>
                <a:ea typeface="Lora"/>
                <a:cs typeface="Lora"/>
                <a:sym typeface="Lora"/>
              </a:rPr>
              <a:t>Live Demo Teaser</a:t>
            </a:r>
            <a:r>
              <a:rPr lang="en">
                <a:solidFill>
                  <a:schemeClr val="dk1"/>
                </a:solidFill>
                <a:latin typeface="Lora"/>
                <a:ea typeface="Lora"/>
                <a:cs typeface="Lora"/>
                <a:sym typeface="Lora"/>
              </a:rPr>
              <a:t>: Start with a 1 minute demonstration - show how a simple prompt can extract sensitive data and bypass security</a:t>
            </a:r>
            <a:endParaRPr i="1">
              <a:solidFill>
                <a:schemeClr val="dk1"/>
              </a:solidFill>
              <a:latin typeface="Lora"/>
              <a:ea typeface="Lora"/>
              <a:cs typeface="Lora"/>
              <a:sym typeface="Lora"/>
            </a:endParaRPr>
          </a:p>
          <a:p>
            <a:pPr indent="0" lvl="0" marL="0" rtl="0" algn="l">
              <a:lnSpc>
                <a:spcPct val="100000"/>
              </a:lnSpc>
              <a:spcBef>
                <a:spcPts val="1200"/>
              </a:spcBef>
              <a:spcAft>
                <a:spcPts val="0"/>
              </a:spcAft>
              <a:buClr>
                <a:schemeClr val="dk1"/>
              </a:buClr>
              <a:buSzPts val="1100"/>
              <a:buFont typeface="Arial"/>
              <a:buNone/>
            </a:pPr>
            <a:r>
              <a:t/>
            </a:r>
            <a:endParaRPr i="1">
              <a:solidFill>
                <a:schemeClr val="dk1"/>
              </a:solidFill>
            </a:endParaRPr>
          </a:p>
          <a:p>
            <a:pPr indent="0" lvl="0" marL="0" rtl="0" algn="l">
              <a:lnSpc>
                <a:spcPct val="100000"/>
              </a:lnSpc>
              <a:spcBef>
                <a:spcPts val="0"/>
              </a:spcBef>
              <a:spcAft>
                <a:spcPts val="0"/>
              </a:spcAft>
              <a:buClr>
                <a:schemeClr val="dk1"/>
              </a:buClr>
              <a:buSzPts val="1100"/>
              <a:buFont typeface="Arial"/>
              <a:buNone/>
            </a:pPr>
            <a:r>
              <a:rPr i="1" lang="en">
                <a:solidFill>
                  <a:schemeClr val="dk1"/>
                </a:solidFill>
              </a:rPr>
              <a:t>Excessive Agency Example: </a:t>
            </a:r>
            <a:endParaRPr i="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When language models interface with other systems, such as a payment processor API, unrestricted agency may lead to undesirable operations and actions. Like web applications, language models should not self-police; controls must be embedded in APIs.</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4907c18c0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34907c18c07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latin typeface="Lora"/>
                <a:ea typeface="Lora"/>
                <a:cs typeface="Lora"/>
                <a:sym typeface="Lora"/>
              </a:rPr>
              <a:t>Problem</a:t>
            </a:r>
            <a:r>
              <a:rPr b="1" lang="en" sz="1700">
                <a:solidFill>
                  <a:schemeClr val="dk1"/>
                </a:solidFill>
                <a:latin typeface="Lora"/>
                <a:ea typeface="Lora"/>
                <a:cs typeface="Lora"/>
                <a:sym typeface="Lora"/>
              </a:rPr>
              <a:t> (3 minutes)</a:t>
            </a:r>
            <a:endParaRPr b="1" sz="1700">
              <a:solidFill>
                <a:schemeClr val="dk1"/>
              </a:solidFill>
              <a:latin typeface="Lora"/>
              <a:ea typeface="Lora"/>
              <a:cs typeface="Lora"/>
              <a:sym typeface="Lora"/>
            </a:endParaRPr>
          </a:p>
          <a:p>
            <a:pPr indent="0" lvl="0" marL="0" rtl="0" algn="l">
              <a:lnSpc>
                <a:spcPct val="100000"/>
              </a:lnSpc>
              <a:spcBef>
                <a:spcPts val="40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This code imports Flask for web app development, requests for making HTTP requests, os for operating system interactions, and pipeline from transformers for setting up NLP tasks with pre-trained models.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Line 8 initializes a text-generation pipeline with the GPT-J 6B model from EleutherAI, ready for generating text based on input prompts.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Line 12: This code retrieves an authentication token from an environment variable and defines a function to process refunds through a payment API. It sends a POST request with the refund amount.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Line 29: This Flask route handles POST requests to '/submit-text', generating text with GPT-J based on a provided prompt. If the response includes "refund approved", it processes a refund through a payment API, responding with the prompt, generated text, refund status, and a message. If not approved, it returns the prompt, generated text, and a denial message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To prevent the "Excessive Agency" vulnerability, the following steps can be taken: </a:t>
            </a:r>
            <a:endParaRPr/>
          </a:p>
          <a:p>
            <a:pPr indent="-298450" lvl="0" marL="457200" rtl="0" algn="l">
              <a:lnSpc>
                <a:spcPct val="100000"/>
              </a:lnSpc>
              <a:spcBef>
                <a:spcPts val="0"/>
              </a:spcBef>
              <a:spcAft>
                <a:spcPts val="0"/>
              </a:spcAft>
              <a:buSzPts val="1100"/>
              <a:buChar char="-"/>
            </a:pPr>
            <a:r>
              <a:rPr lang="en"/>
              <a:t>Reduce the permissions granted to the language model to limit undesirable actions. Implement rate-limiting to reduce the number of undesirable actions. </a:t>
            </a:r>
            <a:endParaRPr/>
          </a:p>
          <a:p>
            <a:pPr indent="-298450" lvl="0" marL="457200" rtl="0" algn="l">
              <a:lnSpc>
                <a:spcPct val="100000"/>
              </a:lnSpc>
              <a:spcBef>
                <a:spcPts val="0"/>
              </a:spcBef>
              <a:spcAft>
                <a:spcPts val="0"/>
              </a:spcAft>
              <a:buSzPts val="1100"/>
              <a:buChar char="-"/>
            </a:pPr>
            <a:r>
              <a:rPr lang="en"/>
              <a:t>Use human-in-the-loop control to require human approval before any actions are taken. In this case, the permissions granted to the LLM were reduced to the minimum necessary, and a CMS with human-in-the-loop control was added. </a:t>
            </a:r>
            <a:endParaRPr/>
          </a:p>
          <a:p>
            <a:pPr indent="0" lvl="0" marL="0" rtl="0" algn="l">
              <a:lnSpc>
                <a:spcPct val="100000"/>
              </a:lnSpc>
              <a:spcBef>
                <a:spcPts val="0"/>
              </a:spcBef>
              <a:spcAft>
                <a:spcPts val="0"/>
              </a:spcAft>
              <a:buNone/>
            </a:pPr>
            <a:r>
              <a:rPr lang="en"/>
              <a:t>—--</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Fixing the Code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Line 29: The function request_approval_from_cms checks a refund request's amount, automatically approving if it's $29.99 or less. For higher amounts, it makes a POST request to a CMS API. Approval depends on the API's response or denies the request if an exception occurs.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Line 47: This modified route processes POST requests with a user's prompt, generating a response via GPT-J. If "refund approved" appears in the response, it examines the text for a specific refund amount or caps it at $29.99. For amounts over $29.99, CMS approval is sought. Approved refunds are processed, while unapproved or larger refunds without CMS consent are denied.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84a66f7659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384a66f7659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700">
                <a:solidFill>
                  <a:schemeClr val="dk1"/>
                </a:solidFill>
                <a:latin typeface="Lora"/>
                <a:ea typeface="Lora"/>
                <a:cs typeface="Lora"/>
                <a:sym typeface="Lora"/>
              </a:rPr>
              <a:t>Mitigation (3 minutes)</a:t>
            </a:r>
            <a:endParaRPr b="1" sz="17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Fixing the Code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Line 29: The function request_approval_from_cms checks a refund </a:t>
            </a:r>
            <a:r>
              <a:rPr lang="en"/>
              <a:t>request</a:t>
            </a:r>
            <a:r>
              <a:rPr lang="en"/>
              <a:t> amount, automatically approving if it's $29.99 or less. For higher amounts, it makes a POST request to a CMS API. Approval depends on the API's response or denies the request if an exception occurs.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Line 47: This modified route processes POST requests with a user's prompt, generating a response via GPT-J. If "refund approved" appears in the response, it examines the text for a specific refund amount or caps it at $29.99. For amounts over $29.99, CMS approval is sought. Approved refunds are processed, while unapproved or larger refunds without CMS consent are denied.</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Lets be clear that this does not completely absolve us from the problem, because there are other ways, but it does minimize our risk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8a166a5b8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38a166a5b8b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Attendees will use the QR to connect to HEROKU hosted app hosted in my personal Heroku  account  (not currently up and available)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Outcomes: </a:t>
            </a:r>
            <a:r>
              <a:rPr i="1" lang="en"/>
              <a:t>reading about it </a:t>
            </a:r>
            <a:r>
              <a:rPr lang="en"/>
              <a:t>is one thing, </a:t>
            </a:r>
            <a:r>
              <a:rPr i="1" lang="en"/>
              <a:t>experiencing</a:t>
            </a:r>
            <a:r>
              <a:rPr lang="en"/>
              <a:t> it makes all the difference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8a166a5b8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g38a166a5b8b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700">
                <a:solidFill>
                  <a:schemeClr val="dk1"/>
                </a:solidFill>
                <a:latin typeface="Lora"/>
                <a:ea typeface="Lora"/>
                <a:cs typeface="Lora"/>
                <a:sym typeface="Lora"/>
              </a:rPr>
              <a:t>Problem</a:t>
            </a:r>
            <a:r>
              <a:rPr b="1" lang="en" sz="1700">
                <a:solidFill>
                  <a:schemeClr val="dk1"/>
                </a:solidFill>
                <a:latin typeface="Lora"/>
                <a:ea typeface="Lora"/>
                <a:cs typeface="Lora"/>
                <a:sym typeface="Lora"/>
              </a:rPr>
              <a:t> (3 minutes)</a:t>
            </a:r>
            <a:endParaRPr b="1" sz="17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This code defines a function named get_llm_response that sends a request to an API to generate a response from a large language model (LLM).</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It takes an input text as an argument, sets up the request with an API URL, headers (including an authorization token), and the data payload containing the prompt and other parameters.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Line 14: the home() function defines a route in a Flask web application that serves the root URL ('/'). When visited, it presents a simple HTML form where users can enter a question in a text input field.</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Line 22; The function ask_llm captures user input from the form, sends this input to a function named get_llm_response , and directly uses the result (llm_response) in rendering an HTML template. The template displays the response from the LLM and provides a link to submit another question.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8a166a5b8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g38a166a5b8b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700">
                <a:solidFill>
                  <a:schemeClr val="dk1"/>
                </a:solidFill>
                <a:latin typeface="Lora"/>
                <a:ea typeface="Lora"/>
                <a:cs typeface="Lora"/>
                <a:sym typeface="Lora"/>
              </a:rPr>
              <a:t>Mitigation</a:t>
            </a:r>
            <a:r>
              <a:rPr b="1" lang="en" sz="1700">
                <a:solidFill>
                  <a:schemeClr val="dk1"/>
                </a:solidFill>
                <a:latin typeface="Lora"/>
                <a:ea typeface="Lora"/>
                <a:cs typeface="Lora"/>
                <a:sym typeface="Lora"/>
              </a:rPr>
              <a:t> (3 minutes)</a:t>
            </a:r>
            <a:endParaRPr b="1" sz="17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To mitigate the “Improper Output Handling” vulnerability, first of all, output sanitization must be implemented for the LLM output before it is sent to the chatbot end user to convert the JS script to HTML entities, which the browser will not execute.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Along with output sanitation a</a:t>
            </a:r>
            <a:r>
              <a:rPr b="1" lang="en"/>
              <a:t> Content and Security Policy (CSP) can be set for self as well to protect from, such attacks, which allows resources to only be loaded from the same origin as the document itself</a:t>
            </a:r>
            <a:r>
              <a:rPr lang="en"/>
              <a:t>. It's used to restrict the sources for various types of content, such as scripts, styles, and images, to enhance security by preventing content injection attacks.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Please note that this will limit the web application from loading scripts, styles and etc from other sources. On the LLM side, it's crucial to closely monitor the behavior of Large Language Models (LLMs) and ensure thorough vetting of their training datasets to prevent biases, inaccuracies, and maintain data integrity and ethical standards.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87d2c409a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g387d2c409a5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Attendees will use the QR to connect to HEROKU hosted app hosted in my personal Heroku  account  (not currently up and available)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Outcomes: </a:t>
            </a:r>
            <a:r>
              <a:rPr i="1" lang="en"/>
              <a:t>reading about it </a:t>
            </a:r>
            <a:r>
              <a:rPr lang="en"/>
              <a:t>is one thing, </a:t>
            </a:r>
            <a:r>
              <a:rPr i="1" lang="en"/>
              <a:t>experiencing</a:t>
            </a:r>
            <a:r>
              <a:rPr lang="en"/>
              <a:t> it makes all the difference</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87d2c409a5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g387d2c409a5_0_1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solidFill>
                  <a:schemeClr val="dk1"/>
                </a:solidFill>
              </a:rPr>
              <a:t>Treat APIs given to LLMs as publicly accessible</a:t>
            </a:r>
            <a:endParaRPr b="1">
              <a:solidFill>
                <a:schemeClr val="dk1"/>
              </a:solidFill>
            </a:endParaRPr>
          </a:p>
          <a:p>
            <a:pPr indent="0" lvl="0" marL="0" rtl="0" algn="l">
              <a:lnSpc>
                <a:spcPct val="100000"/>
              </a:lnSpc>
              <a:spcBef>
                <a:spcPts val="0"/>
              </a:spcBef>
              <a:spcAft>
                <a:spcPts val="0"/>
              </a:spcAft>
              <a:buSzPts val="1100"/>
              <a:buNone/>
            </a:pPr>
            <a:r>
              <a:t/>
            </a:r>
            <a:endParaRPr b="1">
              <a:solidFill>
                <a:schemeClr val="dk1"/>
              </a:solidFill>
            </a:endParaRPr>
          </a:p>
          <a:p>
            <a:pPr indent="0" lvl="0" marL="0" rtl="0" algn="l">
              <a:lnSpc>
                <a:spcPct val="100000"/>
              </a:lnSpc>
              <a:spcBef>
                <a:spcPts val="0"/>
              </a:spcBef>
              <a:spcAft>
                <a:spcPts val="0"/>
              </a:spcAft>
              <a:buSzPts val="1100"/>
              <a:buNone/>
            </a:pPr>
            <a:r>
              <a:rPr b="1" lang="en">
                <a:solidFill>
                  <a:schemeClr val="dk1"/>
                </a:solidFill>
              </a:rPr>
              <a:t>Defense in Depth for AI</a:t>
            </a:r>
            <a:r>
              <a:rPr lang="en">
                <a:solidFill>
                  <a:schemeClr val="dk1"/>
                </a:solidFill>
              </a:rPr>
              <a:t>: Layered security strategies</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b="1" lang="en">
                <a:solidFill>
                  <a:schemeClr val="dk1"/>
                </a:solidFill>
              </a:rPr>
              <a:t>Pre-processing</a:t>
            </a:r>
            <a:r>
              <a:rPr lang="en">
                <a:solidFill>
                  <a:schemeClr val="dk1"/>
                </a:solidFill>
              </a:rPr>
              <a:t>: Clean inputs before they reach the AI</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b="1" lang="en">
                <a:solidFill>
                  <a:schemeClr val="dk1"/>
                </a:solidFill>
              </a:rPr>
              <a:t>Prompt isolation</a:t>
            </a:r>
            <a:r>
              <a:rPr lang="en">
                <a:solidFill>
                  <a:schemeClr val="dk1"/>
                </a:solidFill>
              </a:rPr>
              <a:t>: Separate user input from system instructions</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b="1" lang="en">
                <a:solidFill>
                  <a:schemeClr val="dk1"/>
                </a:solidFill>
              </a:rPr>
              <a:t>Output filtering</a:t>
            </a:r>
            <a:r>
              <a:rPr lang="en">
                <a:solidFill>
                  <a:schemeClr val="dk1"/>
                </a:solidFill>
              </a:rPr>
              <a:t>: Scan AI responses for leaked information</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b="1" lang="en">
                <a:solidFill>
                  <a:schemeClr val="dk1"/>
                </a:solidFill>
              </a:rPr>
              <a:t>Behavioral monitoring</a:t>
            </a:r>
            <a:r>
              <a:rPr lang="en">
                <a:solidFill>
                  <a:schemeClr val="dk1"/>
                </a:solidFill>
              </a:rPr>
              <a:t>: Watch for unusual AI behavior patterns</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rPr>
              <a:t>Red Team Your Own AI</a:t>
            </a:r>
            <a:r>
              <a:rPr lang="en">
                <a:solidFill>
                  <a:schemeClr val="dk1"/>
                </a:solidFill>
              </a:rPr>
              <a:t>: Try prompt injection attacks against your own systems</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Input Sanitization 1.0: </a:t>
            </a:r>
            <a:r>
              <a:rPr lang="en">
                <a:solidFill>
                  <a:schemeClr val="dk1"/>
                </a:solidFill>
              </a:rPr>
              <a:t>Traditional Approach</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Block SQL injection with parameterized queries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Strip HTML tags to prevent XSS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Validate data types (numbers, emails, etc.)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Use regex patterns to block known bad inputs</a:t>
            </a:r>
            <a:endParaRPr>
              <a:solidFill>
                <a:schemeClr val="dk1"/>
              </a:solidFill>
            </a:endParaRPr>
          </a:p>
          <a:p>
            <a:pPr indent="0" lvl="0" marL="0" rtl="0" algn="l">
              <a:lnSpc>
                <a:spcPct val="100000"/>
              </a:lnSpc>
              <a:spcBef>
                <a:spcPts val="1200"/>
              </a:spcBef>
              <a:spcAft>
                <a:spcPts val="0"/>
              </a:spcAft>
              <a:buClr>
                <a:schemeClr val="dk1"/>
              </a:buClr>
              <a:buSzPts val="1100"/>
              <a:buFont typeface="Arial"/>
              <a:buNone/>
            </a:pPr>
            <a:r>
              <a:rPr b="1" lang="en">
                <a:solidFill>
                  <a:schemeClr val="dk1"/>
                </a:solidFill>
              </a:rPr>
              <a:t>Input Sanitization 2.0</a:t>
            </a:r>
            <a:r>
              <a:rPr lang="en">
                <a:solidFill>
                  <a:schemeClr val="dk1"/>
                </a:solidFill>
              </a:rPr>
              <a:t>: Beyond traditional validation</a:t>
            </a:r>
            <a:endParaRPr>
              <a:solidFill>
                <a:schemeClr val="dk1"/>
              </a:solidFill>
            </a:endParaRPr>
          </a:p>
          <a:p>
            <a:pPr indent="0" lvl="0" marL="0" rtl="0" algn="l">
              <a:lnSpc>
                <a:spcPct val="100000"/>
              </a:lnSpc>
              <a:spcBef>
                <a:spcPts val="1200"/>
              </a:spcBef>
              <a:spcAft>
                <a:spcPts val="0"/>
              </a:spcAft>
              <a:buClr>
                <a:schemeClr val="dk1"/>
              </a:buClr>
              <a:buSzPts val="1100"/>
              <a:buFont typeface="Arial"/>
              <a:buNone/>
            </a:pPr>
            <a:r>
              <a:rPr b="1" lang="en">
                <a:solidFill>
                  <a:schemeClr val="dk1"/>
                </a:solidFill>
              </a:rPr>
              <a:t>Intent-Based Filtering</a:t>
            </a:r>
            <a:r>
              <a:rPr lang="en">
                <a:solidFill>
                  <a:schemeClr val="dk1"/>
                </a:solidFill>
              </a:rPr>
              <a:t> Instead of just looking for bad characters, you analyze the semantic intent: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Does this input try to override system instructions?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Is it attempting to extract training data or system prompts?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Does it contain role-playing scenarios that might bypass guardrails?</a:t>
            </a:r>
            <a:endParaRPr>
              <a:solidFill>
                <a:schemeClr val="dk1"/>
              </a:solidFill>
            </a:endParaRPr>
          </a:p>
          <a:p>
            <a:pPr indent="0" lvl="0" marL="0" rtl="0" algn="l">
              <a:lnSpc>
                <a:spcPct val="100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rPr>
              <a:t>Output Filtering</a:t>
            </a:r>
            <a:r>
              <a:rPr lang="en">
                <a:solidFill>
                  <a:schemeClr val="dk1"/>
                </a:solidFill>
              </a:rPr>
              <a:t>: Catching malicious responses before they reach users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rPr>
              <a:t>Monitoring &amp; Detection</a:t>
            </a:r>
            <a:r>
              <a:rPr lang="en">
                <a:solidFill>
                  <a:schemeClr val="dk1"/>
                </a:solidFill>
              </a:rPr>
              <a:t>: What to log and watch for</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Traditional: Monitor for known attack signatures</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AI: Monitor for behavioral anomalies and intent manipulation</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rPr>
              <a:t>Incident Response</a:t>
            </a:r>
            <a:r>
              <a:rPr lang="en">
                <a:solidFill>
                  <a:schemeClr val="dk1"/>
                </a:solidFill>
              </a:rPr>
              <a:t>: When your AI gets compromised</a:t>
            </a:r>
            <a:endParaRPr>
              <a:solidFill>
                <a:schemeClr val="dk1"/>
              </a:solidFill>
            </a:endParaRPr>
          </a:p>
          <a:p>
            <a:pPr indent="0" lvl="0" marL="0" rtl="0" algn="l">
              <a:lnSpc>
                <a:spcPct val="100000"/>
              </a:lnSpc>
              <a:spcBef>
                <a:spcPts val="0"/>
              </a:spcBef>
              <a:spcAft>
                <a:spcPts val="0"/>
              </a:spcAft>
              <a:buSzPts val="1100"/>
              <a:buNone/>
            </a:pPr>
            <a:r>
              <a:t/>
            </a:r>
            <a:endParaRPr b="1" sz="170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84a66f765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g384a66f7659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Resources to learn to hack, specifically for AI Hacking</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8a166a5b8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38a166a5b8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sponsors</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dk1"/>
              </a:buClr>
              <a:buSzPts val="1800"/>
              <a:buChar char="●"/>
              <a:defRPr>
                <a:solidFill>
                  <a:schemeClr val="dk1"/>
                </a:solidFill>
              </a:defRPr>
            </a:lvl1pPr>
            <a:lvl2pPr indent="-317500" lvl="1" marL="914400" algn="l">
              <a:lnSpc>
                <a:spcPct val="115000"/>
              </a:lnSpc>
              <a:spcBef>
                <a:spcPts val="0"/>
              </a:spcBef>
              <a:spcAft>
                <a:spcPts val="0"/>
              </a:spcAft>
              <a:buClr>
                <a:schemeClr val="dk1"/>
              </a:buClr>
              <a:buSzPts val="1400"/>
              <a:buChar char="○"/>
              <a:defRPr>
                <a:solidFill>
                  <a:schemeClr val="dk1"/>
                </a:solidFill>
              </a:defRPr>
            </a:lvl2pPr>
            <a:lvl3pPr indent="-317500" lvl="2" marL="1371600" algn="l">
              <a:lnSpc>
                <a:spcPct val="115000"/>
              </a:lnSpc>
              <a:spcBef>
                <a:spcPts val="0"/>
              </a:spcBef>
              <a:spcAft>
                <a:spcPts val="0"/>
              </a:spcAft>
              <a:buClr>
                <a:schemeClr val="dk1"/>
              </a:buClr>
              <a:buSzPts val="1400"/>
              <a:buChar char="■"/>
              <a:defRPr>
                <a:solidFill>
                  <a:schemeClr val="dk1"/>
                </a:solidFill>
              </a:defRPr>
            </a:lvl3pPr>
            <a:lvl4pPr indent="-317500" lvl="3" marL="1828800" algn="l">
              <a:lnSpc>
                <a:spcPct val="115000"/>
              </a:lnSpc>
              <a:spcBef>
                <a:spcPts val="0"/>
              </a:spcBef>
              <a:spcAft>
                <a:spcPts val="0"/>
              </a:spcAft>
              <a:buClr>
                <a:schemeClr val="dk1"/>
              </a:buClr>
              <a:buSzPts val="1400"/>
              <a:buChar char="●"/>
              <a:defRPr>
                <a:solidFill>
                  <a:schemeClr val="dk1"/>
                </a:solidFill>
              </a:defRPr>
            </a:lvl4pPr>
            <a:lvl5pPr indent="-317500" lvl="4" marL="2286000" algn="l">
              <a:lnSpc>
                <a:spcPct val="115000"/>
              </a:lnSpc>
              <a:spcBef>
                <a:spcPts val="0"/>
              </a:spcBef>
              <a:spcAft>
                <a:spcPts val="0"/>
              </a:spcAft>
              <a:buClr>
                <a:schemeClr val="dk1"/>
              </a:buClr>
              <a:buSzPts val="1400"/>
              <a:buChar char="○"/>
              <a:defRPr>
                <a:solidFill>
                  <a:schemeClr val="dk1"/>
                </a:solidFill>
              </a:defRPr>
            </a:lvl5pPr>
            <a:lvl6pPr indent="-317500" lvl="5" marL="2743200" algn="l">
              <a:lnSpc>
                <a:spcPct val="115000"/>
              </a:lnSpc>
              <a:spcBef>
                <a:spcPts val="0"/>
              </a:spcBef>
              <a:spcAft>
                <a:spcPts val="0"/>
              </a:spcAft>
              <a:buClr>
                <a:schemeClr val="dk1"/>
              </a:buClr>
              <a:buSzPts val="1400"/>
              <a:buChar char="■"/>
              <a:defRPr>
                <a:solidFill>
                  <a:schemeClr val="dk1"/>
                </a:solidFill>
              </a:defRPr>
            </a:lvl6pPr>
            <a:lvl7pPr indent="-317500" lvl="6" marL="3200400" algn="l">
              <a:lnSpc>
                <a:spcPct val="115000"/>
              </a:lnSpc>
              <a:spcBef>
                <a:spcPts val="0"/>
              </a:spcBef>
              <a:spcAft>
                <a:spcPts val="0"/>
              </a:spcAft>
              <a:buClr>
                <a:schemeClr val="dk1"/>
              </a:buClr>
              <a:buSzPts val="1400"/>
              <a:buChar char="●"/>
              <a:defRPr>
                <a:solidFill>
                  <a:schemeClr val="dk1"/>
                </a:solidFill>
              </a:defRPr>
            </a:lvl7pPr>
            <a:lvl8pPr indent="-317500" lvl="7" marL="3657600" algn="l">
              <a:lnSpc>
                <a:spcPct val="115000"/>
              </a:lnSpc>
              <a:spcBef>
                <a:spcPts val="0"/>
              </a:spcBef>
              <a:spcAft>
                <a:spcPts val="0"/>
              </a:spcAft>
              <a:buClr>
                <a:schemeClr val="dk1"/>
              </a:buClr>
              <a:buSzPts val="1400"/>
              <a:buChar char="○"/>
              <a:defRPr>
                <a:solidFill>
                  <a:schemeClr val="dk1"/>
                </a:solidFill>
              </a:defRPr>
            </a:lvl8pPr>
            <a:lvl9pPr indent="-317500" lvl="8" marL="4114800" algn="l">
              <a:lnSpc>
                <a:spcPct val="115000"/>
              </a:lnSpc>
              <a:spcBef>
                <a:spcPts val="0"/>
              </a:spcBef>
              <a:spcAft>
                <a:spcPts val="0"/>
              </a:spcAft>
              <a:buClr>
                <a:schemeClr val="dk1"/>
              </a:buClr>
              <a:buSzPts val="1400"/>
              <a:buChar char="■"/>
              <a:defRPr>
                <a:solidFill>
                  <a:schemeClr val="dk1"/>
                </a:solidFill>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3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2.xml"/><Relationship Id="rId12" Type="http://schemas.openxmlformats.org/officeDocument/2006/relationships/slideLayout" Target="../slideLayouts/slideLayout22.xml"/><Relationship Id="rId1" Type="http://schemas.openxmlformats.org/officeDocument/2006/relationships/image" Target="../media/image32.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blipFill>
          <a:blip r:embed="rId1">
            <a:alphaModFix/>
          </a:blip>
          <a:stretch>
            <a:fillRect/>
          </a:stretch>
        </a:blip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lt2"/>
              </a:buClr>
              <a:buSzPts val="1800"/>
              <a:buFont typeface="Arial"/>
              <a:buChar char="●"/>
              <a:defRPr b="0" i="0" sz="1800" u="none" cap="none" strike="noStrike">
                <a:solidFill>
                  <a:schemeClr val="lt2"/>
                </a:solidFill>
                <a:latin typeface="Arial"/>
                <a:ea typeface="Arial"/>
                <a:cs typeface="Arial"/>
                <a:sym typeface="Arial"/>
              </a:defRPr>
            </a:lvl1pPr>
            <a:lvl2pPr indent="-317500" lvl="1" marL="9144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2pPr>
            <a:lvl3pPr indent="-317500" lvl="2" marL="13716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3pPr>
            <a:lvl4pPr indent="-317500" lvl="3" marL="18288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4pPr>
            <a:lvl5pPr indent="-317500" lvl="4" marL="22860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5pPr>
            <a:lvl6pPr indent="-317500" lvl="5" marL="27432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6pPr>
            <a:lvl7pPr indent="-317500" lvl="6" marL="32004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7pPr>
            <a:lvl8pPr indent="-317500" lvl="7" marL="36576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8pPr>
            <a:lvl9pPr indent="-317500" lvl="8" marL="41148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14.png"/><Relationship Id="rId13" Type="http://schemas.openxmlformats.org/officeDocument/2006/relationships/image" Target="../media/image12.png"/><Relationship Id="rId12" Type="http://schemas.openxmlformats.org/officeDocument/2006/relationships/image" Target="../media/image8.png"/><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9.png"/><Relationship Id="rId4" Type="http://schemas.openxmlformats.org/officeDocument/2006/relationships/image" Target="../media/image17.png"/><Relationship Id="rId9" Type="http://schemas.openxmlformats.org/officeDocument/2006/relationships/image" Target="../media/image24.png"/><Relationship Id="rId5" Type="http://schemas.openxmlformats.org/officeDocument/2006/relationships/image" Target="../media/image20.png"/><Relationship Id="rId6" Type="http://schemas.openxmlformats.org/officeDocument/2006/relationships/image" Target="../media/image15.png"/><Relationship Id="rId7" Type="http://schemas.openxmlformats.org/officeDocument/2006/relationships/image" Target="../media/image5.png"/><Relationship Id="rId8"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hyperlink" Target="https://bit.ly/ai-shopping-bo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6.gif"/><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hyperlink" Target="https://bit.ly/ai-assistant-at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22.png"/><Relationship Id="rId5" Type="http://schemas.openxmlformats.org/officeDocument/2006/relationships/hyperlink" Target="https://bit.ly/web-summarizer"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1" Type="http://schemas.openxmlformats.org/officeDocument/2006/relationships/image" Target="../media/image21.png"/><Relationship Id="rId10" Type="http://schemas.openxmlformats.org/officeDocument/2006/relationships/hyperlink" Target="https://gandalf.lakera.ai/intro" TargetMode="External"/><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hyperlink" Target="https://application.security/free/llm" TargetMode="External"/><Relationship Id="rId4" Type="http://schemas.openxmlformats.org/officeDocument/2006/relationships/image" Target="../media/image23.png"/><Relationship Id="rId9" Type="http://schemas.openxmlformats.org/officeDocument/2006/relationships/image" Target="../media/image28.png"/><Relationship Id="rId5" Type="http://schemas.openxmlformats.org/officeDocument/2006/relationships/hyperlink" Target="https://portswigger.net/web-security/llm-attacks" TargetMode="External"/><Relationship Id="rId6" Type="http://schemas.openxmlformats.org/officeDocument/2006/relationships/image" Target="../media/image30.png"/><Relationship Id="rId7" Type="http://schemas.openxmlformats.org/officeDocument/2006/relationships/hyperlink" Target="https://tryhackme.com/" TargetMode="External"/><Relationship Id="rId8"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latin typeface="Lora"/>
                <a:ea typeface="Lora"/>
                <a:cs typeface="Lora"/>
                <a:sym typeface="Lora"/>
              </a:rPr>
              <a:t>What Your AI </a:t>
            </a:r>
            <a:endParaRPr>
              <a:latin typeface="Lora"/>
              <a:ea typeface="Lora"/>
              <a:cs typeface="Lora"/>
              <a:sym typeface="Lora"/>
            </a:endParaRPr>
          </a:p>
          <a:p>
            <a:pPr indent="0" lvl="0" marL="0" rtl="0" algn="ctr">
              <a:lnSpc>
                <a:spcPct val="100000"/>
              </a:lnSpc>
              <a:spcBef>
                <a:spcPts val="0"/>
              </a:spcBef>
              <a:spcAft>
                <a:spcPts val="0"/>
              </a:spcAft>
              <a:buSzPts val="5200"/>
              <a:buNone/>
            </a:pPr>
            <a:r>
              <a:rPr lang="en">
                <a:latin typeface="Lora"/>
                <a:ea typeface="Lora"/>
                <a:cs typeface="Lora"/>
                <a:sym typeface="Lora"/>
              </a:rPr>
              <a:t>Isn't Telling You.</a:t>
            </a:r>
            <a:endParaRPr>
              <a:latin typeface="Lora"/>
              <a:ea typeface="Lora"/>
              <a:cs typeface="Lora"/>
              <a:sym typeface="Lora"/>
            </a:endParaRPr>
          </a:p>
        </p:txBody>
      </p:sp>
      <p:sp>
        <p:nvSpPr>
          <p:cNvPr id="100" name="Google Shape;100;p25"/>
          <p:cNvSpPr/>
          <p:nvPr/>
        </p:nvSpPr>
        <p:spPr>
          <a:xfrm>
            <a:off x="0" y="4323575"/>
            <a:ext cx="9144000" cy="819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1" name="Google Shape;101;p25"/>
          <p:cNvPicPr preferRelativeResize="0"/>
          <p:nvPr/>
        </p:nvPicPr>
        <p:blipFill rotWithShape="1">
          <a:blip r:embed="rId3">
            <a:alphaModFix/>
          </a:blip>
          <a:srcRect b="0" l="0" r="0" t="0"/>
          <a:stretch/>
        </p:blipFill>
        <p:spPr>
          <a:xfrm>
            <a:off x="7557825" y="3507225"/>
            <a:ext cx="1586175" cy="1636275"/>
          </a:xfrm>
          <a:prstGeom prst="rect">
            <a:avLst/>
          </a:prstGeom>
          <a:noFill/>
          <a:ln>
            <a:noFill/>
          </a:ln>
        </p:spPr>
      </p:pic>
      <p:sp>
        <p:nvSpPr>
          <p:cNvPr id="102" name="Google Shape;102;p25"/>
          <p:cNvSpPr txBox="1"/>
          <p:nvPr>
            <p:ph idx="1" type="subTitle"/>
          </p:nvPr>
        </p:nvSpPr>
        <p:spPr>
          <a:xfrm>
            <a:off x="311700" y="43372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 sz="2200">
                <a:solidFill>
                  <a:schemeClr val="lt1"/>
                </a:solidFill>
                <a:latin typeface="Caveat"/>
                <a:ea typeface="Caveat"/>
                <a:cs typeface="Caveat"/>
                <a:sym typeface="Caveat"/>
              </a:rPr>
              <a:t>Desz Lamptey</a:t>
            </a:r>
            <a:endParaRPr sz="2200">
              <a:solidFill>
                <a:schemeClr val="lt1"/>
              </a:solidFill>
              <a:latin typeface="Caveat"/>
              <a:ea typeface="Caveat"/>
              <a:cs typeface="Caveat"/>
              <a:sym typeface="Caveat"/>
            </a:endParaRPr>
          </a:p>
          <a:p>
            <a:pPr indent="0" lvl="0" marL="0" rtl="0" algn="ctr">
              <a:lnSpc>
                <a:spcPct val="100000"/>
              </a:lnSpc>
              <a:spcBef>
                <a:spcPts val="0"/>
              </a:spcBef>
              <a:spcAft>
                <a:spcPts val="0"/>
              </a:spcAft>
              <a:buSzPts val="2800"/>
              <a:buNone/>
            </a:pPr>
            <a:r>
              <a:rPr lang="en" sz="1600">
                <a:solidFill>
                  <a:schemeClr val="lt1"/>
                </a:solidFill>
                <a:latin typeface="Caveat"/>
                <a:ea typeface="Caveat"/>
                <a:cs typeface="Caveat"/>
                <a:sym typeface="Caveat"/>
              </a:rPr>
              <a:t>Lead Software Engineer, Certified Ethical Hacker, One-Day-at-a-Time Dad</a:t>
            </a:r>
            <a:endParaRPr sz="1600">
              <a:solidFill>
                <a:schemeClr val="lt1"/>
              </a:solidFill>
              <a:latin typeface="Caveat"/>
              <a:ea typeface="Caveat"/>
              <a:cs typeface="Caveat"/>
              <a:sym typeface="Caveat"/>
            </a:endParaRPr>
          </a:p>
        </p:txBody>
      </p:sp>
      <p:sp>
        <p:nvSpPr>
          <p:cNvPr id="103" name="Google Shape;103;p25"/>
          <p:cNvSpPr txBox="1"/>
          <p:nvPr/>
        </p:nvSpPr>
        <p:spPr>
          <a:xfrm>
            <a:off x="-127000" y="-254000"/>
            <a:ext cx="1269900" cy="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rPr b="0" i="0" lang="en" sz="100" u="none" cap="none" strike="noStrike">
                <a:solidFill>
                  <a:srgbClr val="F8F9FA"/>
                </a:solidFill>
                <a:latin typeface="Arial"/>
                <a:ea typeface="Arial"/>
                <a:cs typeface="Arial"/>
                <a:sym typeface="Arial"/>
              </a:rPr>
              <a:t>#ᴅʟᴘ_MICRODOT [{'title': 'Data Security Classification', 'text': 'Internal'}, {'title': 'doc_id', 'text': '1QLj3sOpiCfm3BIc80DE3jMdnvFFdybRibxyZ0iGdEz0'}]_END</a:t>
            </a:r>
            <a:endParaRPr b="0" i="0" sz="100" u="none" cap="none" strike="noStrike">
              <a:solidFill>
                <a:srgbClr val="F8F9FA"/>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6" title="Screenshot 2025-09-25 at 10.34.26 PM.png"/>
          <p:cNvPicPr preferRelativeResize="0"/>
          <p:nvPr/>
        </p:nvPicPr>
        <p:blipFill>
          <a:blip r:embed="rId3">
            <a:alphaModFix/>
          </a:blip>
          <a:stretch>
            <a:fillRect/>
          </a:stretch>
        </p:blipFill>
        <p:spPr>
          <a:xfrm>
            <a:off x="152400" y="152400"/>
            <a:ext cx="8630337" cy="4838700"/>
          </a:xfrm>
          <a:prstGeom prst="rect">
            <a:avLst/>
          </a:prstGeom>
          <a:noFill/>
          <a:ln>
            <a:noFill/>
          </a:ln>
        </p:spPr>
      </p:pic>
      <p:pic>
        <p:nvPicPr>
          <p:cNvPr id="109" name="Google Shape;109;p26" title="Screenshot 2025-09-25 at 10.38.34 PM.png"/>
          <p:cNvPicPr preferRelativeResize="0"/>
          <p:nvPr/>
        </p:nvPicPr>
        <p:blipFill>
          <a:blip r:embed="rId4">
            <a:alphaModFix/>
          </a:blip>
          <a:stretch>
            <a:fillRect/>
          </a:stretch>
        </p:blipFill>
        <p:spPr>
          <a:xfrm>
            <a:off x="38838" y="1235588"/>
            <a:ext cx="5343425" cy="1643175"/>
          </a:xfrm>
          <a:prstGeom prst="rect">
            <a:avLst/>
          </a:prstGeom>
          <a:noFill/>
          <a:ln>
            <a:noFill/>
          </a:ln>
        </p:spPr>
      </p:pic>
      <p:pic>
        <p:nvPicPr>
          <p:cNvPr id="110" name="Google Shape;110;p26" title="Screenshot 2025-09-25 at 10.37.22 PM.png"/>
          <p:cNvPicPr preferRelativeResize="0"/>
          <p:nvPr/>
        </p:nvPicPr>
        <p:blipFill>
          <a:blip r:embed="rId5">
            <a:alphaModFix/>
          </a:blip>
          <a:stretch>
            <a:fillRect/>
          </a:stretch>
        </p:blipFill>
        <p:spPr>
          <a:xfrm>
            <a:off x="0" y="3386103"/>
            <a:ext cx="5582551" cy="1852873"/>
          </a:xfrm>
          <a:prstGeom prst="rect">
            <a:avLst/>
          </a:prstGeom>
          <a:noFill/>
          <a:ln>
            <a:noFill/>
          </a:ln>
        </p:spPr>
      </p:pic>
      <p:pic>
        <p:nvPicPr>
          <p:cNvPr id="111" name="Google Shape;111;p26" title="Screenshot 2025-09-25 at 10.35.19 PM.png"/>
          <p:cNvPicPr preferRelativeResize="0"/>
          <p:nvPr/>
        </p:nvPicPr>
        <p:blipFill rotWithShape="1">
          <a:blip r:embed="rId6">
            <a:alphaModFix/>
          </a:blip>
          <a:srcRect b="16184" l="0" r="0" t="0"/>
          <a:stretch/>
        </p:blipFill>
        <p:spPr>
          <a:xfrm>
            <a:off x="5253372" y="1235600"/>
            <a:ext cx="3963853" cy="1525150"/>
          </a:xfrm>
          <a:prstGeom prst="rect">
            <a:avLst/>
          </a:prstGeom>
          <a:noFill/>
          <a:ln>
            <a:noFill/>
          </a:ln>
        </p:spPr>
      </p:pic>
      <p:pic>
        <p:nvPicPr>
          <p:cNvPr id="112" name="Google Shape;112;p26" title="Screenshot 2025-09-25 at 10.36.00 PM.png"/>
          <p:cNvPicPr preferRelativeResize="0"/>
          <p:nvPr/>
        </p:nvPicPr>
        <p:blipFill rotWithShape="1">
          <a:blip r:embed="rId7">
            <a:alphaModFix/>
          </a:blip>
          <a:srcRect b="0" l="616" r="0" t="76814"/>
          <a:stretch/>
        </p:blipFill>
        <p:spPr>
          <a:xfrm>
            <a:off x="0" y="2760750"/>
            <a:ext cx="9248775" cy="625350"/>
          </a:xfrm>
          <a:prstGeom prst="rect">
            <a:avLst/>
          </a:prstGeom>
          <a:noFill/>
          <a:ln>
            <a:noFill/>
          </a:ln>
        </p:spPr>
      </p:pic>
      <p:pic>
        <p:nvPicPr>
          <p:cNvPr id="113" name="Google Shape;113;p26" title="Screenshot 2025-09-25 at 10.33.18 PM.png"/>
          <p:cNvPicPr preferRelativeResize="0"/>
          <p:nvPr/>
        </p:nvPicPr>
        <p:blipFill>
          <a:blip r:embed="rId8">
            <a:alphaModFix/>
          </a:blip>
          <a:stretch>
            <a:fillRect/>
          </a:stretch>
        </p:blipFill>
        <p:spPr>
          <a:xfrm>
            <a:off x="5279000" y="4530475"/>
            <a:ext cx="3865000" cy="614475"/>
          </a:xfrm>
          <a:prstGeom prst="rect">
            <a:avLst/>
          </a:prstGeom>
          <a:noFill/>
          <a:ln>
            <a:noFill/>
          </a:ln>
        </p:spPr>
      </p:pic>
      <p:pic>
        <p:nvPicPr>
          <p:cNvPr id="114" name="Google Shape;114;p26" title="Screenshot 2025-09-25 at 10.37.39 PM.png"/>
          <p:cNvPicPr preferRelativeResize="0"/>
          <p:nvPr/>
        </p:nvPicPr>
        <p:blipFill rotWithShape="1">
          <a:blip r:embed="rId9">
            <a:alphaModFix/>
          </a:blip>
          <a:srcRect b="0" l="0" r="0" t="20063"/>
          <a:stretch/>
        </p:blipFill>
        <p:spPr>
          <a:xfrm>
            <a:off x="3952825" y="3344475"/>
            <a:ext cx="5191173" cy="930225"/>
          </a:xfrm>
          <a:prstGeom prst="rect">
            <a:avLst/>
          </a:prstGeom>
          <a:noFill/>
          <a:ln>
            <a:noFill/>
          </a:ln>
        </p:spPr>
      </p:pic>
      <p:pic>
        <p:nvPicPr>
          <p:cNvPr id="115" name="Google Shape;115;p26"/>
          <p:cNvPicPr preferRelativeResize="0"/>
          <p:nvPr/>
        </p:nvPicPr>
        <p:blipFill>
          <a:blip r:embed="rId10">
            <a:alphaModFix/>
          </a:blip>
          <a:stretch>
            <a:fillRect/>
          </a:stretch>
        </p:blipFill>
        <p:spPr>
          <a:xfrm>
            <a:off x="4352318" y="-117462"/>
            <a:ext cx="4801000" cy="1448963"/>
          </a:xfrm>
          <a:prstGeom prst="rect">
            <a:avLst/>
          </a:prstGeom>
          <a:noFill/>
          <a:ln>
            <a:noFill/>
          </a:ln>
        </p:spPr>
      </p:pic>
      <p:pic>
        <p:nvPicPr>
          <p:cNvPr id="116" name="Google Shape;116;p26"/>
          <p:cNvPicPr preferRelativeResize="0"/>
          <p:nvPr/>
        </p:nvPicPr>
        <p:blipFill rotWithShape="1">
          <a:blip r:embed="rId11">
            <a:alphaModFix/>
          </a:blip>
          <a:srcRect b="23071" l="0" r="0" t="0"/>
          <a:stretch/>
        </p:blipFill>
        <p:spPr>
          <a:xfrm>
            <a:off x="38850" y="-81587"/>
            <a:ext cx="4304149" cy="1377224"/>
          </a:xfrm>
          <a:prstGeom prst="rect">
            <a:avLst/>
          </a:prstGeom>
          <a:noFill/>
          <a:ln>
            <a:noFill/>
          </a:ln>
        </p:spPr>
      </p:pic>
      <p:pic>
        <p:nvPicPr>
          <p:cNvPr id="117" name="Google Shape;117;p26" title="Screenshot 2025-09-25 at 10.38.21 PM.png"/>
          <p:cNvPicPr preferRelativeResize="0"/>
          <p:nvPr/>
        </p:nvPicPr>
        <p:blipFill rotWithShape="1">
          <a:blip r:embed="rId12">
            <a:alphaModFix/>
          </a:blip>
          <a:srcRect b="44398" l="0" r="0" t="0"/>
          <a:stretch/>
        </p:blipFill>
        <p:spPr>
          <a:xfrm>
            <a:off x="5582550" y="3840050"/>
            <a:ext cx="3776575" cy="696372"/>
          </a:xfrm>
          <a:prstGeom prst="rect">
            <a:avLst/>
          </a:prstGeom>
          <a:noFill/>
          <a:ln>
            <a:noFill/>
          </a:ln>
        </p:spPr>
      </p:pic>
      <p:pic>
        <p:nvPicPr>
          <p:cNvPr id="118" name="Google Shape;118;p26"/>
          <p:cNvPicPr preferRelativeResize="0"/>
          <p:nvPr/>
        </p:nvPicPr>
        <p:blipFill>
          <a:blip r:embed="rId13">
            <a:alphaModFix/>
          </a:blip>
          <a:stretch>
            <a:fillRect/>
          </a:stretch>
        </p:blipFill>
        <p:spPr>
          <a:xfrm>
            <a:off x="-556079" y="-58725"/>
            <a:ext cx="10256168" cy="5260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2000"/>
                                        <p:tgtEl>
                                          <p:spTgt spid="11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2000"/>
                                        <p:tgtEl>
                                          <p:spTgt spid="117"/>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2000"/>
                                        <p:tgtEl>
                                          <p:spTgt spid="111"/>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2000"/>
                                        <p:tgtEl>
                                          <p:spTgt spid="114"/>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2000"/>
                                        <p:tgtEl>
                                          <p:spTgt spid="112"/>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2000"/>
                                        <p:tgtEl>
                                          <p:spTgt spid="109"/>
                                        </p:tgtEl>
                                      </p:cBhvr>
                                    </p:animEffect>
                                  </p:childTnLst>
                                </p:cTn>
                              </p:par>
                            </p:childTnLst>
                          </p:cTn>
                        </p:par>
                        <p:par>
                          <p:cTn fill="hold">
                            <p:stCondLst>
                              <p:cond delay="12000"/>
                            </p:stCondLst>
                            <p:childTnLst>
                              <p:par>
                                <p:cTn fill="hold" nodeType="after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2000"/>
                                        <p:tgtEl>
                                          <p:spTgt spid="115"/>
                                        </p:tgtEl>
                                      </p:cBhvr>
                                    </p:animEffect>
                                  </p:childTnLst>
                                </p:cTn>
                              </p:par>
                            </p:childTnLst>
                          </p:cTn>
                        </p:par>
                        <p:par>
                          <p:cTn fill="hold">
                            <p:stCondLst>
                              <p:cond delay="14000"/>
                            </p:stCondLst>
                            <p:childTnLst>
                              <p:par>
                                <p:cTn fill="hold" nodeType="after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2000"/>
                                        <p:tgtEl>
                                          <p:spTgt spid="1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2" name="Shape 122"/>
        <p:cNvGrpSpPr/>
        <p:nvPr/>
      </p:nvGrpSpPr>
      <p:grpSpPr>
        <a:xfrm>
          <a:off x="0" y="0"/>
          <a:ext cx="0" cy="0"/>
          <a:chOff x="0" y="0"/>
          <a:chExt cx="0" cy="0"/>
        </a:xfrm>
      </p:grpSpPr>
      <p:pic>
        <p:nvPicPr>
          <p:cNvPr id="123" name="Google Shape;123;p27"/>
          <p:cNvPicPr preferRelativeResize="0"/>
          <p:nvPr/>
        </p:nvPicPr>
        <p:blipFill>
          <a:blip r:embed="rId3">
            <a:alphaModFix/>
          </a:blip>
          <a:stretch>
            <a:fillRect/>
          </a:stretch>
        </p:blipFill>
        <p:spPr>
          <a:xfrm>
            <a:off x="4516713" y="965725"/>
            <a:ext cx="3394825" cy="3394825"/>
          </a:xfrm>
          <a:prstGeom prst="rect">
            <a:avLst/>
          </a:prstGeom>
          <a:noFill/>
          <a:ln>
            <a:noFill/>
          </a:ln>
        </p:spPr>
      </p:pic>
      <p:sp>
        <p:nvSpPr>
          <p:cNvPr id="124" name="Google Shape;124;p27"/>
          <p:cNvSpPr txBox="1"/>
          <p:nvPr/>
        </p:nvSpPr>
        <p:spPr>
          <a:xfrm>
            <a:off x="3352579" y="161025"/>
            <a:ext cx="5723100" cy="601500"/>
          </a:xfrm>
          <a:prstGeom prst="rect">
            <a:avLst/>
          </a:prstGeom>
          <a:noFill/>
          <a:ln>
            <a:noFill/>
          </a:ln>
        </p:spPr>
        <p:txBody>
          <a:bodyPr anchorCtr="0" anchor="ctr" bIns="28700" lIns="57400" spcFirstLastPara="1" rIns="57400" wrap="square" tIns="28700">
            <a:spAutoFit/>
          </a:bodyPr>
          <a:lstStyle/>
          <a:p>
            <a:pPr indent="0" lvl="0" marL="0" marR="0" rtl="0" algn="ctr">
              <a:lnSpc>
                <a:spcPct val="80000"/>
              </a:lnSpc>
              <a:spcBef>
                <a:spcPts val="0"/>
              </a:spcBef>
              <a:spcAft>
                <a:spcPts val="0"/>
              </a:spcAft>
              <a:buClr>
                <a:srgbClr val="000000"/>
              </a:buClr>
              <a:buSzPts val="3014"/>
              <a:buFont typeface="Archivo Black"/>
              <a:buNone/>
            </a:pPr>
            <a:r>
              <a:rPr lang="en" sz="2614">
                <a:solidFill>
                  <a:schemeClr val="dk1"/>
                </a:solidFill>
                <a:latin typeface="Lora"/>
                <a:ea typeface="Lora"/>
                <a:cs typeface="Lora"/>
                <a:sym typeface="Lora"/>
              </a:rPr>
              <a:t>Let’s Dive in Together</a:t>
            </a:r>
            <a:endParaRPr sz="479">
              <a:solidFill>
                <a:schemeClr val="dk1"/>
              </a:solidFill>
              <a:latin typeface="Lora"/>
              <a:ea typeface="Lora"/>
              <a:cs typeface="Lora"/>
              <a:sym typeface="Lora"/>
            </a:endParaRPr>
          </a:p>
          <a:p>
            <a:pPr indent="0" lvl="0" marL="0" marR="0" rtl="0" algn="ctr">
              <a:lnSpc>
                <a:spcPct val="80000"/>
              </a:lnSpc>
              <a:spcBef>
                <a:spcPts val="0"/>
              </a:spcBef>
              <a:spcAft>
                <a:spcPts val="0"/>
              </a:spcAft>
              <a:buClr>
                <a:srgbClr val="000000"/>
              </a:buClr>
              <a:buSzPts val="3014"/>
              <a:buFont typeface="Archivo Black"/>
              <a:buNone/>
            </a:pPr>
            <a:r>
              <a:rPr i="1" lang="en" sz="1800">
                <a:solidFill>
                  <a:schemeClr val="dk1"/>
                </a:solidFill>
                <a:latin typeface="Lora"/>
                <a:ea typeface="Lora"/>
                <a:cs typeface="Lora"/>
                <a:sym typeface="Lora"/>
              </a:rPr>
              <a:t>Vulnerable AI Assistant</a:t>
            </a:r>
            <a:endParaRPr i="1" sz="1800">
              <a:solidFill>
                <a:schemeClr val="dk1"/>
              </a:solidFill>
              <a:latin typeface="Lora"/>
              <a:ea typeface="Lora"/>
              <a:cs typeface="Lora"/>
              <a:sym typeface="Lora"/>
            </a:endParaRPr>
          </a:p>
        </p:txBody>
      </p:sp>
      <p:pic>
        <p:nvPicPr>
          <p:cNvPr id="125" name="Google Shape;125;p27"/>
          <p:cNvPicPr preferRelativeResize="0"/>
          <p:nvPr/>
        </p:nvPicPr>
        <p:blipFill rotWithShape="1">
          <a:blip r:embed="rId4">
            <a:alphaModFix/>
          </a:blip>
          <a:srcRect b="0" l="13200" r="-13199" t="0"/>
          <a:stretch/>
        </p:blipFill>
        <p:spPr>
          <a:xfrm>
            <a:off x="-340462" y="0"/>
            <a:ext cx="3857626" cy="5143501"/>
          </a:xfrm>
          <a:prstGeom prst="rect">
            <a:avLst/>
          </a:prstGeom>
          <a:noFill/>
          <a:ln>
            <a:noFill/>
          </a:ln>
        </p:spPr>
      </p:pic>
      <p:sp>
        <p:nvSpPr>
          <p:cNvPr id="126" name="Google Shape;126;p27"/>
          <p:cNvSpPr txBox="1"/>
          <p:nvPr/>
        </p:nvSpPr>
        <p:spPr>
          <a:xfrm>
            <a:off x="3030025" y="4529900"/>
            <a:ext cx="6114000" cy="44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u="sng">
                <a:solidFill>
                  <a:schemeClr val="hlink"/>
                </a:solidFill>
                <a:latin typeface="Lora"/>
                <a:ea typeface="Lora"/>
                <a:cs typeface="Lora"/>
                <a:sym typeface="Lora"/>
                <a:hlinkClick r:id="rId5"/>
              </a:rPr>
              <a:t>https://bit.ly/ai-shopping-bot</a:t>
            </a:r>
            <a:r>
              <a:rPr lang="en" sz="1800">
                <a:solidFill>
                  <a:schemeClr val="lt2"/>
                </a:solidFill>
                <a:latin typeface="Lora"/>
                <a:ea typeface="Lora"/>
                <a:cs typeface="Lora"/>
                <a:sym typeface="Lora"/>
              </a:rPr>
              <a:t> </a:t>
            </a:r>
            <a:endParaRPr sz="1800">
              <a:solidFill>
                <a:schemeClr val="lt2"/>
              </a:solidFill>
              <a:latin typeface="Lora"/>
              <a:ea typeface="Lora"/>
              <a:cs typeface="Lora"/>
              <a:sym typeface="L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8"/>
          <p:cNvSpPr txBox="1"/>
          <p:nvPr>
            <p:ph type="ctrTitle"/>
          </p:nvPr>
        </p:nvSpPr>
        <p:spPr>
          <a:xfrm>
            <a:off x="2692850" y="4143675"/>
            <a:ext cx="3651300" cy="4350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680"/>
              <a:buNone/>
            </a:pPr>
            <a:r>
              <a:rPr lang="en" sz="1120">
                <a:latin typeface="Lora"/>
                <a:ea typeface="Lora"/>
                <a:cs typeface="Lora"/>
                <a:sym typeface="Lora"/>
              </a:rPr>
              <a:t>How many of us have AI solutions in production? </a:t>
            </a:r>
            <a:endParaRPr sz="1120">
              <a:latin typeface="Lora"/>
              <a:ea typeface="Lora"/>
              <a:cs typeface="Lora"/>
              <a:sym typeface="Lora"/>
            </a:endParaRPr>
          </a:p>
        </p:txBody>
      </p:sp>
      <p:sp>
        <p:nvSpPr>
          <p:cNvPr id="132" name="Google Shape;132;p28"/>
          <p:cNvSpPr txBox="1"/>
          <p:nvPr>
            <p:ph type="ctrTitle"/>
          </p:nvPr>
        </p:nvSpPr>
        <p:spPr>
          <a:xfrm>
            <a:off x="2479550" y="4332525"/>
            <a:ext cx="4077900" cy="5955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339130"/>
              <a:buNone/>
            </a:pPr>
            <a:r>
              <a:rPr i="1" lang="en" sz="1380">
                <a:latin typeface="Lora"/>
                <a:ea typeface="Lora"/>
                <a:cs typeface="Lora"/>
                <a:sym typeface="Lora"/>
              </a:rPr>
              <a:t>How many of us have AI-specific security measures?</a:t>
            </a:r>
            <a:endParaRPr i="1" sz="1380">
              <a:latin typeface="Lora"/>
              <a:ea typeface="Lora"/>
              <a:cs typeface="Lora"/>
              <a:sym typeface="Lora"/>
            </a:endParaRPr>
          </a:p>
        </p:txBody>
      </p:sp>
      <p:pic>
        <p:nvPicPr>
          <p:cNvPr id="133" name="Google Shape;133;p28" title="graph1.png"/>
          <p:cNvPicPr preferRelativeResize="0"/>
          <p:nvPr/>
        </p:nvPicPr>
        <p:blipFill>
          <a:blip r:embed="rId3">
            <a:alphaModFix/>
          </a:blip>
          <a:stretch>
            <a:fillRect/>
          </a:stretch>
        </p:blipFill>
        <p:spPr>
          <a:xfrm>
            <a:off x="-488100" y="0"/>
            <a:ext cx="10013199" cy="5143499"/>
          </a:xfrm>
          <a:prstGeom prst="rect">
            <a:avLst/>
          </a:prstGeom>
          <a:noFill/>
          <a:ln>
            <a:noFill/>
          </a:ln>
        </p:spPr>
      </p:pic>
      <p:pic>
        <p:nvPicPr>
          <p:cNvPr id="134" name="Google Shape;134;p28" title="graph2.png"/>
          <p:cNvPicPr preferRelativeResize="0"/>
          <p:nvPr/>
        </p:nvPicPr>
        <p:blipFill>
          <a:blip r:embed="rId4">
            <a:alphaModFix/>
          </a:blip>
          <a:stretch>
            <a:fillRect/>
          </a:stretch>
        </p:blipFill>
        <p:spPr>
          <a:xfrm>
            <a:off x="-488112" y="0"/>
            <a:ext cx="10013220" cy="51434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44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20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4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9"/>
          <p:cNvSpPr txBox="1"/>
          <p:nvPr/>
        </p:nvSpPr>
        <p:spPr>
          <a:xfrm>
            <a:off x="2897750" y="38850"/>
            <a:ext cx="6246300" cy="1170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n" sz="3000" u="none" cap="none" strike="noStrike">
                <a:solidFill>
                  <a:schemeClr val="dk1"/>
                </a:solidFill>
                <a:latin typeface="Lora Medium"/>
                <a:ea typeface="Lora Medium"/>
                <a:cs typeface="Lora Medium"/>
                <a:sym typeface="Lora Medium"/>
              </a:rPr>
              <a:t>Life is getting easier for attackers</a:t>
            </a:r>
            <a:endParaRPr b="0" i="0" sz="3014" u="none" cap="none" strike="noStrike">
              <a:solidFill>
                <a:schemeClr val="dk1"/>
              </a:solidFill>
              <a:latin typeface="Lora"/>
              <a:ea typeface="Lora"/>
              <a:cs typeface="Lora"/>
              <a:sym typeface="Lora"/>
            </a:endParaRPr>
          </a:p>
          <a:p>
            <a:pPr indent="0" lvl="0" marL="0" marR="0" rtl="0" algn="ctr">
              <a:lnSpc>
                <a:spcPct val="80000"/>
              </a:lnSpc>
              <a:spcBef>
                <a:spcPts val="0"/>
              </a:spcBef>
              <a:spcAft>
                <a:spcPts val="0"/>
              </a:spcAft>
              <a:buClr>
                <a:srgbClr val="000000"/>
              </a:buClr>
              <a:buSzPts val="3014"/>
              <a:buFont typeface="Archivo Black"/>
              <a:buNone/>
            </a:pPr>
            <a:r>
              <a:t/>
            </a:r>
            <a:endParaRPr b="0" i="0" sz="2100" u="none" cap="none" strike="noStrike">
              <a:solidFill>
                <a:schemeClr val="dk1"/>
              </a:solidFill>
              <a:latin typeface="Lora Medium"/>
              <a:ea typeface="Lora Medium"/>
              <a:cs typeface="Lora Medium"/>
              <a:sym typeface="Lora Medium"/>
            </a:endParaRPr>
          </a:p>
        </p:txBody>
      </p:sp>
      <p:sp>
        <p:nvSpPr>
          <p:cNvPr id="140" name="Google Shape;140;p29"/>
          <p:cNvSpPr txBox="1"/>
          <p:nvPr/>
        </p:nvSpPr>
        <p:spPr>
          <a:xfrm>
            <a:off x="3592500" y="1209450"/>
            <a:ext cx="1959000" cy="117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n" sz="4800" u="none" cap="none" strike="noStrike">
                <a:solidFill>
                  <a:schemeClr val="dk1"/>
                </a:solidFill>
                <a:latin typeface="Lora Medium"/>
                <a:ea typeface="Lora Medium"/>
                <a:cs typeface="Lora Medium"/>
                <a:sym typeface="Lora Medium"/>
              </a:rPr>
              <a:t>4151% </a:t>
            </a:r>
            <a:endParaRPr b="0" i="0" sz="4800" u="none" cap="none" strike="noStrike">
              <a:solidFill>
                <a:schemeClr val="dk1"/>
              </a:solidFill>
              <a:latin typeface="Lora Medium"/>
              <a:ea typeface="Lora Medium"/>
              <a:cs typeface="Lora Medium"/>
              <a:sym typeface="Lora Medium"/>
            </a:endParaRPr>
          </a:p>
        </p:txBody>
      </p:sp>
      <p:sp>
        <p:nvSpPr>
          <p:cNvPr id="141" name="Google Shape;141;p29"/>
          <p:cNvSpPr txBox="1"/>
          <p:nvPr/>
        </p:nvSpPr>
        <p:spPr>
          <a:xfrm>
            <a:off x="3709600" y="1954825"/>
            <a:ext cx="1665600" cy="1303200"/>
          </a:xfrm>
          <a:prstGeom prst="rect">
            <a:avLst/>
          </a:prstGeom>
          <a:noFill/>
          <a:ln>
            <a:noFill/>
          </a:ln>
        </p:spPr>
        <p:txBody>
          <a:bodyPr anchorCtr="0" anchor="t" bIns="28700" lIns="57400" spcFirstLastPara="1" rIns="57400" wrap="square" tIns="28700">
            <a:noAutofit/>
          </a:bodyPr>
          <a:lstStyle/>
          <a:p>
            <a:pPr indent="0" lvl="0" marL="0" marR="0" rtl="0" algn="l">
              <a:lnSpc>
                <a:spcPct val="100000"/>
              </a:lnSpc>
              <a:spcBef>
                <a:spcPts val="0"/>
              </a:spcBef>
              <a:spcAft>
                <a:spcPts val="0"/>
              </a:spcAft>
              <a:buClr>
                <a:srgbClr val="000000"/>
              </a:buClr>
              <a:buSzPts val="1190"/>
              <a:buFont typeface="Arial"/>
              <a:buNone/>
            </a:pPr>
            <a:r>
              <a:rPr b="0" i="0" lang="en" sz="1190" u="none" cap="none" strike="noStrike">
                <a:solidFill>
                  <a:schemeClr val="dk1"/>
                </a:solidFill>
                <a:latin typeface="Lora"/>
                <a:ea typeface="Lora"/>
                <a:cs typeface="Lora"/>
                <a:sym typeface="Lora"/>
              </a:rPr>
              <a:t>increase in total phishing volume since the public release of ChatGPT</a:t>
            </a:r>
            <a:endParaRPr b="0" i="0" sz="119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rgbClr val="000000"/>
              </a:buClr>
              <a:buSzPts val="1190"/>
              <a:buFont typeface="Arial"/>
              <a:buNone/>
            </a:pPr>
            <a:r>
              <a:rPr b="0" i="0" lang="en" sz="1190" u="none" cap="none" strike="noStrike">
                <a:solidFill>
                  <a:schemeClr val="dk1"/>
                </a:solidFill>
                <a:latin typeface="Lora"/>
                <a:ea typeface="Lora"/>
                <a:cs typeface="Lora"/>
                <a:sym typeface="Lora"/>
              </a:rPr>
              <a:t> </a:t>
            </a:r>
            <a:endParaRPr b="0" i="0" sz="119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rgbClr val="000000"/>
              </a:buClr>
              <a:buSzPts val="690"/>
              <a:buFont typeface="Arial"/>
              <a:buNone/>
            </a:pPr>
            <a:r>
              <a:rPr b="0" i="0" lang="en" sz="690" u="none" cap="none" strike="noStrike">
                <a:solidFill>
                  <a:schemeClr val="dk1"/>
                </a:solidFill>
                <a:latin typeface="Lora"/>
                <a:ea typeface="Lora"/>
                <a:cs typeface="Lora"/>
                <a:sym typeface="Lora"/>
              </a:rPr>
              <a:t>2025 Hoxhunt Report</a:t>
            </a:r>
            <a:endParaRPr b="0" i="0" sz="690" u="none" cap="none" strike="noStrike">
              <a:solidFill>
                <a:schemeClr val="dk1"/>
              </a:solidFill>
              <a:latin typeface="Lora"/>
              <a:ea typeface="Lora"/>
              <a:cs typeface="Lora"/>
              <a:sym typeface="Lora"/>
            </a:endParaRPr>
          </a:p>
        </p:txBody>
      </p:sp>
      <p:sp>
        <p:nvSpPr>
          <p:cNvPr id="142" name="Google Shape;142;p29"/>
          <p:cNvSpPr txBox="1"/>
          <p:nvPr/>
        </p:nvSpPr>
        <p:spPr>
          <a:xfrm>
            <a:off x="7006850" y="1209450"/>
            <a:ext cx="1959000" cy="117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n" sz="4800" u="none" cap="none" strike="noStrike">
                <a:solidFill>
                  <a:schemeClr val="dk1"/>
                </a:solidFill>
                <a:latin typeface="Lora Medium"/>
                <a:ea typeface="Lora Medium"/>
                <a:cs typeface="Lora Medium"/>
                <a:sym typeface="Lora Medium"/>
              </a:rPr>
              <a:t>80% </a:t>
            </a:r>
            <a:endParaRPr b="0" i="0" sz="4800" u="none" cap="none" strike="noStrike">
              <a:solidFill>
                <a:schemeClr val="dk1"/>
              </a:solidFill>
              <a:latin typeface="Lora Medium"/>
              <a:ea typeface="Lora Medium"/>
              <a:cs typeface="Lora Medium"/>
              <a:sym typeface="Lora Medium"/>
            </a:endParaRPr>
          </a:p>
        </p:txBody>
      </p:sp>
      <p:sp>
        <p:nvSpPr>
          <p:cNvPr id="143" name="Google Shape;143;p29"/>
          <p:cNvSpPr txBox="1"/>
          <p:nvPr/>
        </p:nvSpPr>
        <p:spPr>
          <a:xfrm>
            <a:off x="7153550" y="1954825"/>
            <a:ext cx="1665600" cy="684300"/>
          </a:xfrm>
          <a:prstGeom prst="rect">
            <a:avLst/>
          </a:prstGeom>
          <a:noFill/>
          <a:ln>
            <a:noFill/>
          </a:ln>
        </p:spPr>
        <p:txBody>
          <a:bodyPr anchorCtr="0" anchor="t" bIns="28700" lIns="57400" spcFirstLastPara="1" rIns="57400" wrap="square" tIns="28700">
            <a:noAutofit/>
          </a:bodyPr>
          <a:lstStyle/>
          <a:p>
            <a:pPr indent="0" lvl="0" marL="0" marR="0" rtl="0" algn="l">
              <a:lnSpc>
                <a:spcPct val="100000"/>
              </a:lnSpc>
              <a:spcBef>
                <a:spcPts val="0"/>
              </a:spcBef>
              <a:spcAft>
                <a:spcPts val="0"/>
              </a:spcAft>
              <a:buClr>
                <a:srgbClr val="000000"/>
              </a:buClr>
              <a:buSzPts val="1190"/>
              <a:buFont typeface="Arial"/>
              <a:buNone/>
            </a:pPr>
            <a:r>
              <a:rPr b="0" i="0" lang="en" sz="1190" u="none" cap="none" strike="noStrike">
                <a:solidFill>
                  <a:schemeClr val="dk1"/>
                </a:solidFill>
                <a:latin typeface="Lora"/>
                <a:ea typeface="Lora"/>
                <a:cs typeface="Lora"/>
                <a:sym typeface="Lora"/>
              </a:rPr>
              <a:t>of ransomware attacks are now powered by AI</a:t>
            </a:r>
            <a:endParaRPr b="0" i="0" sz="119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rgbClr val="000000"/>
              </a:buClr>
              <a:buSzPts val="590"/>
              <a:buFont typeface="Arial"/>
              <a:buNone/>
            </a:pPr>
            <a:r>
              <a:t/>
            </a:r>
            <a:endParaRPr b="0" i="0" sz="59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rgbClr val="000000"/>
              </a:buClr>
              <a:buSzPts val="690"/>
              <a:buFont typeface="Arial"/>
              <a:buNone/>
            </a:pPr>
            <a:r>
              <a:rPr b="0" i="0" lang="en" sz="690" u="none" cap="none" strike="noStrike">
                <a:solidFill>
                  <a:schemeClr val="dk1"/>
                </a:solidFill>
                <a:latin typeface="Lora"/>
                <a:ea typeface="Lora"/>
                <a:cs typeface="Lora"/>
                <a:sym typeface="Lora"/>
              </a:rPr>
              <a:t>2025 Cybersecurity at MIT Sloan (CAMS) and Safe Security</a:t>
            </a:r>
            <a:endParaRPr b="0" i="0" sz="1290" u="none" cap="none" strike="noStrike">
              <a:solidFill>
                <a:schemeClr val="dk1"/>
              </a:solidFill>
              <a:latin typeface="Lora"/>
              <a:ea typeface="Lora"/>
              <a:cs typeface="Lora"/>
              <a:sym typeface="Lora"/>
            </a:endParaRPr>
          </a:p>
        </p:txBody>
      </p:sp>
      <p:sp>
        <p:nvSpPr>
          <p:cNvPr id="144" name="Google Shape;144;p29"/>
          <p:cNvSpPr txBox="1"/>
          <p:nvPr/>
        </p:nvSpPr>
        <p:spPr>
          <a:xfrm>
            <a:off x="5158175" y="3053695"/>
            <a:ext cx="1959000" cy="117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n" sz="4800" u="none" cap="none" strike="noStrike">
                <a:solidFill>
                  <a:schemeClr val="dk1"/>
                </a:solidFill>
                <a:latin typeface="Lora Medium"/>
                <a:ea typeface="Lora Medium"/>
                <a:cs typeface="Lora Medium"/>
                <a:sym typeface="Lora Medium"/>
              </a:rPr>
              <a:t>$25M </a:t>
            </a:r>
            <a:endParaRPr b="0" i="0" sz="4800" u="none" cap="none" strike="noStrike">
              <a:solidFill>
                <a:schemeClr val="dk1"/>
              </a:solidFill>
              <a:latin typeface="Lora Medium"/>
              <a:ea typeface="Lora Medium"/>
              <a:cs typeface="Lora Medium"/>
              <a:sym typeface="Lora Medium"/>
            </a:endParaRPr>
          </a:p>
        </p:txBody>
      </p:sp>
      <p:sp>
        <p:nvSpPr>
          <p:cNvPr id="145" name="Google Shape;145;p29"/>
          <p:cNvSpPr txBox="1"/>
          <p:nvPr/>
        </p:nvSpPr>
        <p:spPr>
          <a:xfrm>
            <a:off x="5274125" y="3771195"/>
            <a:ext cx="1842900" cy="1303200"/>
          </a:xfrm>
          <a:prstGeom prst="rect">
            <a:avLst/>
          </a:prstGeom>
          <a:noFill/>
          <a:ln>
            <a:noFill/>
          </a:ln>
        </p:spPr>
        <p:txBody>
          <a:bodyPr anchorCtr="0" anchor="t" bIns="28700" lIns="57400" spcFirstLastPara="1" rIns="57400" wrap="square" tIns="28700">
            <a:noAutofit/>
          </a:bodyPr>
          <a:lstStyle/>
          <a:p>
            <a:pPr indent="0" lvl="0" marL="0" marR="0" rtl="0" algn="l">
              <a:lnSpc>
                <a:spcPct val="100000"/>
              </a:lnSpc>
              <a:spcBef>
                <a:spcPts val="0"/>
              </a:spcBef>
              <a:spcAft>
                <a:spcPts val="0"/>
              </a:spcAft>
              <a:buClr>
                <a:srgbClr val="000000"/>
              </a:buClr>
              <a:buSzPts val="1190"/>
              <a:buFont typeface="Arial"/>
              <a:buNone/>
            </a:pPr>
            <a:r>
              <a:rPr b="0" i="0" lang="en" sz="1190" u="none" cap="none" strike="noStrike">
                <a:solidFill>
                  <a:schemeClr val="dk1"/>
                </a:solidFill>
                <a:latin typeface="Lora"/>
                <a:ea typeface="Lora"/>
                <a:cs typeface="Lora"/>
                <a:sym typeface="Lora"/>
              </a:rPr>
              <a:t>Lost in AI ransomware attack on UK engineering firm Arup </a:t>
            </a:r>
            <a:endParaRPr b="0" i="0" sz="119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rgbClr val="000000"/>
              </a:buClr>
              <a:buSzPts val="590"/>
              <a:buFont typeface="Arial"/>
              <a:buNone/>
            </a:pPr>
            <a:r>
              <a:t/>
            </a:r>
            <a:endParaRPr b="0" i="0" sz="59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rgbClr val="000000"/>
              </a:buClr>
              <a:buSzPts val="690"/>
              <a:buFont typeface="Arial"/>
              <a:buNone/>
            </a:pPr>
            <a:r>
              <a:rPr b="0" i="0" lang="en" sz="690" u="none" cap="none" strike="noStrike">
                <a:solidFill>
                  <a:schemeClr val="dk1"/>
                </a:solidFill>
                <a:latin typeface="Lora"/>
                <a:ea typeface="Lora"/>
                <a:cs typeface="Lora"/>
                <a:sym typeface="Lora"/>
              </a:rPr>
              <a:t>FBI's 2025 Internet Crime Report </a:t>
            </a:r>
            <a:endParaRPr b="0" i="0" sz="690" u="none" cap="none" strike="noStrike">
              <a:solidFill>
                <a:schemeClr val="dk1"/>
              </a:solidFill>
              <a:latin typeface="Lora"/>
              <a:ea typeface="Lora"/>
              <a:cs typeface="Lora"/>
              <a:sym typeface="L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0"/>
          <p:cNvSpPr txBox="1"/>
          <p:nvPr/>
        </p:nvSpPr>
        <p:spPr>
          <a:xfrm>
            <a:off x="2897750" y="38850"/>
            <a:ext cx="6246300" cy="1170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n" sz="3000" u="none" cap="none" strike="noStrike">
                <a:solidFill>
                  <a:schemeClr val="dk1"/>
                </a:solidFill>
                <a:latin typeface="Lora Medium"/>
                <a:ea typeface="Lora Medium"/>
                <a:cs typeface="Lora Medium"/>
                <a:sym typeface="Lora Medium"/>
              </a:rPr>
              <a:t>Life is getting easier for attackers</a:t>
            </a:r>
            <a:endParaRPr b="0" i="0" sz="3000" u="none" cap="none" strike="noStrike">
              <a:solidFill>
                <a:schemeClr val="dk1"/>
              </a:solidFill>
              <a:latin typeface="Lora Medium"/>
              <a:ea typeface="Lora Medium"/>
              <a:cs typeface="Lora Medium"/>
              <a:sym typeface="Lora Medium"/>
            </a:endParaRPr>
          </a:p>
          <a:p>
            <a:pPr indent="0" lvl="0" marL="0" rtl="0" algn="ctr">
              <a:lnSpc>
                <a:spcPct val="80000"/>
              </a:lnSpc>
              <a:spcBef>
                <a:spcPts val="0"/>
              </a:spcBef>
              <a:spcAft>
                <a:spcPts val="0"/>
              </a:spcAft>
              <a:buClr>
                <a:srgbClr val="000000"/>
              </a:buClr>
              <a:buSzPts val="3014"/>
              <a:buFont typeface="Archivo Black"/>
              <a:buNone/>
            </a:pPr>
            <a:r>
              <a:rPr i="1" lang="en" sz="1800">
                <a:solidFill>
                  <a:schemeClr val="dk1"/>
                </a:solidFill>
                <a:latin typeface="Lora"/>
                <a:ea typeface="Lora"/>
                <a:cs typeface="Lora"/>
                <a:sym typeface="Lora"/>
              </a:rPr>
              <a:t>“vibe hacking”</a:t>
            </a:r>
            <a:endParaRPr sz="3000">
              <a:solidFill>
                <a:schemeClr val="dk1"/>
              </a:solidFill>
              <a:latin typeface="Lora Medium"/>
              <a:ea typeface="Lora Medium"/>
              <a:cs typeface="Lora Medium"/>
              <a:sym typeface="Lora Medium"/>
            </a:endParaRPr>
          </a:p>
          <a:p>
            <a:pPr indent="0" lvl="0" marL="0" marR="0" rtl="0" algn="ctr">
              <a:lnSpc>
                <a:spcPct val="80000"/>
              </a:lnSpc>
              <a:spcBef>
                <a:spcPts val="0"/>
              </a:spcBef>
              <a:spcAft>
                <a:spcPts val="0"/>
              </a:spcAft>
              <a:buClr>
                <a:srgbClr val="000000"/>
              </a:buClr>
              <a:buSzPts val="3014"/>
              <a:buFont typeface="Archivo Black"/>
              <a:buNone/>
            </a:pPr>
            <a:r>
              <a:t/>
            </a:r>
            <a:endParaRPr b="0" i="0" sz="2100" u="none" cap="none" strike="noStrike">
              <a:solidFill>
                <a:schemeClr val="dk1"/>
              </a:solidFill>
              <a:latin typeface="Lora Medium"/>
              <a:ea typeface="Lora Medium"/>
              <a:cs typeface="Lora Medium"/>
              <a:sym typeface="Lora Medium"/>
            </a:endParaRPr>
          </a:p>
        </p:txBody>
      </p:sp>
      <p:sp>
        <p:nvSpPr>
          <p:cNvPr id="151" name="Google Shape;151;p30"/>
          <p:cNvSpPr txBox="1"/>
          <p:nvPr/>
        </p:nvSpPr>
        <p:spPr>
          <a:xfrm>
            <a:off x="3579350" y="1370950"/>
            <a:ext cx="5232600" cy="31785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1500"/>
              </a:spcBef>
              <a:spcAft>
                <a:spcPts val="0"/>
              </a:spcAft>
              <a:buNone/>
            </a:pPr>
            <a:r>
              <a:rPr lang="en" sz="1300">
                <a:solidFill>
                  <a:schemeClr val="dk1"/>
                </a:solidFill>
                <a:latin typeface="Lora"/>
                <a:ea typeface="Lora"/>
                <a:cs typeface="Lora"/>
                <a:sym typeface="Lora"/>
              </a:rPr>
              <a:t>Attacker used Anthropic Claude to …</a:t>
            </a:r>
            <a:endParaRPr sz="1300">
              <a:solidFill>
                <a:schemeClr val="dk1"/>
              </a:solidFill>
              <a:latin typeface="Lora"/>
              <a:ea typeface="Lora"/>
              <a:cs typeface="Lora"/>
              <a:sym typeface="Lora"/>
            </a:endParaRPr>
          </a:p>
          <a:p>
            <a:pPr indent="-311150" lvl="0" marL="457200" rtl="0" algn="l">
              <a:lnSpc>
                <a:spcPct val="150000"/>
              </a:lnSpc>
              <a:spcBef>
                <a:spcPts val="800"/>
              </a:spcBef>
              <a:spcAft>
                <a:spcPts val="0"/>
              </a:spcAft>
              <a:buClr>
                <a:schemeClr val="dk1"/>
              </a:buClr>
              <a:buSzPts val="1300"/>
              <a:buFont typeface="Lora"/>
              <a:buChar char="●"/>
            </a:pPr>
            <a:r>
              <a:rPr lang="en" sz="1300">
                <a:solidFill>
                  <a:schemeClr val="dk1"/>
                </a:solidFill>
                <a:latin typeface="Lora"/>
                <a:ea typeface="Lora"/>
                <a:cs typeface="Lora"/>
                <a:sym typeface="Lora"/>
              </a:rPr>
              <a:t>Conduct reconnaissance</a:t>
            </a:r>
            <a:endParaRPr sz="1300">
              <a:solidFill>
                <a:schemeClr val="dk1"/>
              </a:solidFill>
              <a:latin typeface="Lora"/>
              <a:ea typeface="Lora"/>
              <a:cs typeface="Lora"/>
              <a:sym typeface="Lora"/>
            </a:endParaRPr>
          </a:p>
          <a:p>
            <a:pPr indent="-311150" lvl="0" marL="457200" rtl="0" algn="l">
              <a:lnSpc>
                <a:spcPct val="150000"/>
              </a:lnSpc>
              <a:spcBef>
                <a:spcPts val="0"/>
              </a:spcBef>
              <a:spcAft>
                <a:spcPts val="0"/>
              </a:spcAft>
              <a:buClr>
                <a:schemeClr val="dk1"/>
              </a:buClr>
              <a:buSzPts val="1300"/>
              <a:buFont typeface="Lora"/>
              <a:buChar char="●"/>
            </a:pPr>
            <a:r>
              <a:rPr lang="en" sz="1300">
                <a:solidFill>
                  <a:schemeClr val="dk1"/>
                </a:solidFill>
                <a:latin typeface="Lora"/>
                <a:ea typeface="Lora"/>
                <a:cs typeface="Lora"/>
                <a:sym typeface="Lora"/>
              </a:rPr>
              <a:t>Create malware and custom hacking tools </a:t>
            </a:r>
            <a:endParaRPr sz="1300">
              <a:solidFill>
                <a:schemeClr val="dk1"/>
              </a:solidFill>
              <a:latin typeface="Lora"/>
              <a:ea typeface="Lora"/>
              <a:cs typeface="Lora"/>
              <a:sym typeface="Lora"/>
            </a:endParaRPr>
          </a:p>
          <a:p>
            <a:pPr indent="-311150" lvl="0" marL="457200" rtl="0" algn="l">
              <a:lnSpc>
                <a:spcPct val="150000"/>
              </a:lnSpc>
              <a:spcBef>
                <a:spcPts val="0"/>
              </a:spcBef>
              <a:spcAft>
                <a:spcPts val="0"/>
              </a:spcAft>
              <a:buClr>
                <a:schemeClr val="dk1"/>
              </a:buClr>
              <a:buSzPts val="1300"/>
              <a:buFont typeface="Lora"/>
              <a:buChar char="●"/>
            </a:pPr>
            <a:r>
              <a:rPr lang="en" sz="1300">
                <a:solidFill>
                  <a:schemeClr val="dk1"/>
                </a:solidFill>
                <a:latin typeface="Lora"/>
                <a:ea typeface="Lora"/>
                <a:cs typeface="Lora"/>
                <a:sym typeface="Lora"/>
              </a:rPr>
              <a:t>Analyze stolen data</a:t>
            </a:r>
            <a:endParaRPr sz="1300">
              <a:solidFill>
                <a:schemeClr val="dk1"/>
              </a:solidFill>
              <a:latin typeface="Lora"/>
              <a:ea typeface="Lora"/>
              <a:cs typeface="Lora"/>
              <a:sym typeface="Lora"/>
            </a:endParaRPr>
          </a:p>
          <a:p>
            <a:pPr indent="-311150" lvl="0" marL="457200" rtl="0" algn="l">
              <a:lnSpc>
                <a:spcPct val="150000"/>
              </a:lnSpc>
              <a:spcBef>
                <a:spcPts val="0"/>
              </a:spcBef>
              <a:spcAft>
                <a:spcPts val="0"/>
              </a:spcAft>
              <a:buClr>
                <a:schemeClr val="dk1"/>
              </a:buClr>
              <a:buSzPts val="1300"/>
              <a:buFont typeface="Lora"/>
              <a:buChar char="●"/>
            </a:pPr>
            <a:r>
              <a:rPr lang="en" sz="1300">
                <a:solidFill>
                  <a:schemeClr val="dk1"/>
                </a:solidFill>
                <a:latin typeface="Lora"/>
                <a:ea typeface="Lora"/>
                <a:cs typeface="Lora"/>
                <a:sym typeface="Lora"/>
              </a:rPr>
              <a:t>Craft "psychologically targeted" extortion demands and ransom notes </a:t>
            </a:r>
            <a:endParaRPr sz="1300">
              <a:solidFill>
                <a:schemeClr val="dk1"/>
              </a:solidFill>
              <a:latin typeface="Lora"/>
              <a:ea typeface="Lora"/>
              <a:cs typeface="Lora"/>
              <a:sym typeface="Lora"/>
            </a:endParaRPr>
          </a:p>
          <a:p>
            <a:pPr indent="0" lvl="0" marL="0" rtl="0" algn="l">
              <a:lnSpc>
                <a:spcPct val="150000"/>
              </a:lnSpc>
              <a:spcBef>
                <a:spcPts val="2700"/>
              </a:spcBef>
              <a:spcAft>
                <a:spcPts val="0"/>
              </a:spcAft>
              <a:buNone/>
            </a:pPr>
            <a:r>
              <a:rPr lang="en" sz="1300">
                <a:solidFill>
                  <a:schemeClr val="dk1"/>
                </a:solidFill>
                <a:latin typeface="Lora"/>
                <a:ea typeface="Lora"/>
                <a:cs typeface="Lora"/>
                <a:sym typeface="Lora"/>
              </a:rPr>
              <a:t>Impact: A single hacker with limited skills carries out a sophisticated cyber crime campaign against at least </a:t>
            </a:r>
            <a:r>
              <a:rPr b="1" lang="en" sz="1300">
                <a:solidFill>
                  <a:schemeClr val="dk1"/>
                </a:solidFill>
                <a:latin typeface="Lora"/>
                <a:ea typeface="Lora"/>
                <a:cs typeface="Lora"/>
                <a:sym typeface="Lora"/>
              </a:rPr>
              <a:t>17 distinct organizations</a:t>
            </a:r>
            <a:r>
              <a:rPr lang="en" sz="1300">
                <a:solidFill>
                  <a:schemeClr val="dk1"/>
                </a:solidFill>
                <a:latin typeface="Lora"/>
                <a:ea typeface="Lora"/>
                <a:cs typeface="Lora"/>
                <a:sym typeface="Lora"/>
              </a:rPr>
              <a:t>  </a:t>
            </a:r>
            <a:endParaRPr sz="1300">
              <a:solidFill>
                <a:schemeClr val="dk1"/>
              </a:solidFill>
              <a:latin typeface="Lora"/>
              <a:ea typeface="Lora"/>
              <a:cs typeface="Lora"/>
              <a:sym typeface="Lora"/>
            </a:endParaRPr>
          </a:p>
          <a:p>
            <a:pPr indent="0" lvl="0" marL="0" rtl="0" algn="l">
              <a:spcBef>
                <a:spcPts val="1500"/>
              </a:spcBef>
              <a:spcAft>
                <a:spcPts val="0"/>
              </a:spcAft>
              <a:buNone/>
            </a:pPr>
            <a:r>
              <a:t/>
            </a:r>
            <a:endParaRPr sz="1900">
              <a:solidFill>
                <a:schemeClr val="dk1"/>
              </a:solidFill>
              <a:latin typeface="Lora"/>
              <a:ea typeface="Lora"/>
              <a:cs typeface="Lora"/>
              <a:sym typeface="Lo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1"/>
          <p:cNvSpPr/>
          <p:nvPr/>
        </p:nvSpPr>
        <p:spPr>
          <a:xfrm>
            <a:off x="5467650" y="1958525"/>
            <a:ext cx="1553700" cy="905700"/>
          </a:xfrm>
          <a:prstGeom prst="roundRect">
            <a:avLst>
              <a:gd fmla="val 16667"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31"/>
          <p:cNvSpPr txBox="1"/>
          <p:nvPr/>
        </p:nvSpPr>
        <p:spPr>
          <a:xfrm>
            <a:off x="1435713" y="66700"/>
            <a:ext cx="6274200" cy="1170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n" sz="3000" u="none" cap="none" strike="noStrike">
                <a:solidFill>
                  <a:schemeClr val="dk1"/>
                </a:solidFill>
                <a:latin typeface="Lora Medium"/>
                <a:ea typeface="Lora Medium"/>
                <a:cs typeface="Lora Medium"/>
                <a:sym typeface="Lora Medium"/>
              </a:rPr>
              <a:t>OWASP Foundation</a:t>
            </a:r>
            <a:endParaRPr b="0" i="0" sz="3014" u="none" cap="none" strike="noStrike">
              <a:solidFill>
                <a:schemeClr val="dk1"/>
              </a:solidFill>
              <a:latin typeface="Lora"/>
              <a:ea typeface="Lora"/>
              <a:cs typeface="Lora"/>
              <a:sym typeface="Lora"/>
            </a:endParaRPr>
          </a:p>
          <a:p>
            <a:pPr indent="0" lvl="0" marL="0" marR="0" rtl="0" algn="ctr">
              <a:lnSpc>
                <a:spcPct val="100000"/>
              </a:lnSpc>
              <a:spcBef>
                <a:spcPts val="0"/>
              </a:spcBef>
              <a:spcAft>
                <a:spcPts val="0"/>
              </a:spcAft>
              <a:buClr>
                <a:srgbClr val="000000"/>
              </a:buClr>
              <a:buSzPts val="4800"/>
              <a:buFont typeface="Arial"/>
              <a:buNone/>
            </a:pPr>
            <a:r>
              <a:rPr b="0" i="1" lang="en" sz="1800" u="none" cap="none" strike="noStrike">
                <a:solidFill>
                  <a:schemeClr val="dk1"/>
                </a:solidFill>
                <a:latin typeface="Lora"/>
                <a:ea typeface="Lora"/>
                <a:cs typeface="Lora"/>
                <a:sym typeface="Lora"/>
              </a:rPr>
              <a:t>Top 10 risks for AI and LLM Applications</a:t>
            </a:r>
            <a:endParaRPr b="0" i="1" sz="1800" u="none" cap="none" strike="noStrike">
              <a:solidFill>
                <a:schemeClr val="dk1"/>
              </a:solidFill>
              <a:latin typeface="Lora"/>
              <a:ea typeface="Lora"/>
              <a:cs typeface="Lora"/>
              <a:sym typeface="Lora"/>
            </a:endParaRPr>
          </a:p>
          <a:p>
            <a:pPr indent="0" lvl="0" marL="0" marR="0" rtl="0" algn="ctr">
              <a:lnSpc>
                <a:spcPct val="100000"/>
              </a:lnSpc>
              <a:spcBef>
                <a:spcPts val="0"/>
              </a:spcBef>
              <a:spcAft>
                <a:spcPts val="0"/>
              </a:spcAft>
              <a:buClr>
                <a:srgbClr val="000000"/>
              </a:buClr>
              <a:buSzPts val="4800"/>
              <a:buFont typeface="Arial"/>
              <a:buNone/>
            </a:pPr>
            <a:r>
              <a:t/>
            </a:r>
            <a:endParaRPr b="0" i="0" sz="3000" u="none" cap="none" strike="noStrike">
              <a:solidFill>
                <a:schemeClr val="dk1"/>
              </a:solidFill>
              <a:latin typeface="Lora Medium"/>
              <a:ea typeface="Lora Medium"/>
              <a:cs typeface="Lora Medium"/>
              <a:sym typeface="Lora Medium"/>
            </a:endParaRPr>
          </a:p>
          <a:p>
            <a:pPr indent="0" lvl="0" marL="0" marR="0" rtl="0" algn="ctr">
              <a:lnSpc>
                <a:spcPct val="80000"/>
              </a:lnSpc>
              <a:spcBef>
                <a:spcPts val="0"/>
              </a:spcBef>
              <a:spcAft>
                <a:spcPts val="0"/>
              </a:spcAft>
              <a:buClr>
                <a:srgbClr val="000000"/>
              </a:buClr>
              <a:buSzPts val="3014"/>
              <a:buFont typeface="Archivo Black"/>
              <a:buNone/>
            </a:pPr>
            <a:r>
              <a:t/>
            </a:r>
            <a:endParaRPr b="0" i="0" sz="2100" u="none" cap="none" strike="noStrike">
              <a:solidFill>
                <a:schemeClr val="dk1"/>
              </a:solidFill>
              <a:latin typeface="Lora Medium"/>
              <a:ea typeface="Lora Medium"/>
              <a:cs typeface="Lora Medium"/>
              <a:sym typeface="Lora Medium"/>
            </a:endParaRPr>
          </a:p>
        </p:txBody>
      </p:sp>
      <p:sp>
        <p:nvSpPr>
          <p:cNvPr id="158" name="Google Shape;158;p31"/>
          <p:cNvSpPr/>
          <p:nvPr/>
        </p:nvSpPr>
        <p:spPr>
          <a:xfrm>
            <a:off x="7148975" y="1958525"/>
            <a:ext cx="1553700" cy="905700"/>
          </a:xfrm>
          <a:prstGeom prst="roundRect">
            <a:avLst>
              <a:gd fmla="val 16667"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31"/>
          <p:cNvSpPr/>
          <p:nvPr/>
        </p:nvSpPr>
        <p:spPr>
          <a:xfrm>
            <a:off x="2105000" y="1958525"/>
            <a:ext cx="1553700" cy="905700"/>
          </a:xfrm>
          <a:prstGeom prst="roundRect">
            <a:avLst>
              <a:gd fmla="val 16667"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31"/>
          <p:cNvSpPr/>
          <p:nvPr/>
        </p:nvSpPr>
        <p:spPr>
          <a:xfrm>
            <a:off x="3786325" y="1958525"/>
            <a:ext cx="1553700" cy="905700"/>
          </a:xfrm>
          <a:prstGeom prst="roundRect">
            <a:avLst>
              <a:gd fmla="val 16667"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31"/>
          <p:cNvSpPr/>
          <p:nvPr/>
        </p:nvSpPr>
        <p:spPr>
          <a:xfrm>
            <a:off x="423675" y="1958525"/>
            <a:ext cx="1553700" cy="905700"/>
          </a:xfrm>
          <a:prstGeom prst="roundRect">
            <a:avLst>
              <a:gd fmla="val 16667"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31"/>
          <p:cNvSpPr/>
          <p:nvPr/>
        </p:nvSpPr>
        <p:spPr>
          <a:xfrm>
            <a:off x="5477300" y="2983409"/>
            <a:ext cx="1553700" cy="905700"/>
          </a:xfrm>
          <a:prstGeom prst="roundRect">
            <a:avLst>
              <a:gd fmla="val 16667"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31"/>
          <p:cNvSpPr/>
          <p:nvPr/>
        </p:nvSpPr>
        <p:spPr>
          <a:xfrm>
            <a:off x="7158625" y="2983409"/>
            <a:ext cx="1553700" cy="905700"/>
          </a:xfrm>
          <a:prstGeom prst="roundRect">
            <a:avLst>
              <a:gd fmla="val 16667"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1"/>
          <p:cNvSpPr/>
          <p:nvPr/>
        </p:nvSpPr>
        <p:spPr>
          <a:xfrm>
            <a:off x="2114650" y="2983409"/>
            <a:ext cx="1553700" cy="905700"/>
          </a:xfrm>
          <a:prstGeom prst="roundRect">
            <a:avLst>
              <a:gd fmla="val 16667"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1"/>
          <p:cNvSpPr/>
          <p:nvPr/>
        </p:nvSpPr>
        <p:spPr>
          <a:xfrm>
            <a:off x="3795975" y="2983409"/>
            <a:ext cx="1553700" cy="905700"/>
          </a:xfrm>
          <a:prstGeom prst="roundRect">
            <a:avLst>
              <a:gd fmla="val 16667"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1"/>
          <p:cNvSpPr/>
          <p:nvPr/>
        </p:nvSpPr>
        <p:spPr>
          <a:xfrm>
            <a:off x="433325" y="2983409"/>
            <a:ext cx="1553700" cy="905700"/>
          </a:xfrm>
          <a:prstGeom prst="roundRect">
            <a:avLst>
              <a:gd fmla="val 16667"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1"/>
          <p:cNvSpPr txBox="1"/>
          <p:nvPr/>
        </p:nvSpPr>
        <p:spPr>
          <a:xfrm>
            <a:off x="433325" y="1958525"/>
            <a:ext cx="1553700" cy="90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ora"/>
                <a:ea typeface="Lora"/>
                <a:cs typeface="Lora"/>
                <a:sym typeface="Lora"/>
              </a:rPr>
              <a:t>Prompt Injection</a:t>
            </a:r>
            <a:endParaRPr b="0" i="0" sz="1400" u="none" cap="none" strike="noStrike">
              <a:solidFill>
                <a:schemeClr val="dk1"/>
              </a:solidFill>
              <a:latin typeface="Lora"/>
              <a:ea typeface="Lora"/>
              <a:cs typeface="Lora"/>
              <a:sym typeface="Lora"/>
            </a:endParaRPr>
          </a:p>
        </p:txBody>
      </p:sp>
      <p:sp>
        <p:nvSpPr>
          <p:cNvPr id="168" name="Google Shape;168;p31"/>
          <p:cNvSpPr txBox="1"/>
          <p:nvPr/>
        </p:nvSpPr>
        <p:spPr>
          <a:xfrm>
            <a:off x="2105000" y="1960950"/>
            <a:ext cx="1553700" cy="90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ora"/>
                <a:ea typeface="Lora"/>
                <a:cs typeface="Lora"/>
                <a:sym typeface="Lora"/>
              </a:rPr>
              <a:t>Insecure Output Handling</a:t>
            </a:r>
            <a:endParaRPr b="0" i="0" sz="1400" u="none" cap="none" strike="noStrike">
              <a:solidFill>
                <a:schemeClr val="dk1"/>
              </a:solidFill>
              <a:latin typeface="Lora"/>
              <a:ea typeface="Lora"/>
              <a:cs typeface="Lora"/>
              <a:sym typeface="Lora"/>
            </a:endParaRPr>
          </a:p>
        </p:txBody>
      </p:sp>
      <p:sp>
        <p:nvSpPr>
          <p:cNvPr id="169" name="Google Shape;169;p31"/>
          <p:cNvSpPr txBox="1"/>
          <p:nvPr/>
        </p:nvSpPr>
        <p:spPr>
          <a:xfrm>
            <a:off x="3795975" y="1960950"/>
            <a:ext cx="1553700" cy="90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ora"/>
                <a:ea typeface="Lora"/>
                <a:cs typeface="Lora"/>
                <a:sym typeface="Lora"/>
              </a:rPr>
              <a:t>Training Data Poisoning</a:t>
            </a:r>
            <a:endParaRPr b="0" i="0" sz="1400" u="none" cap="none" strike="noStrike">
              <a:solidFill>
                <a:schemeClr val="dk1"/>
              </a:solidFill>
              <a:latin typeface="Lora"/>
              <a:ea typeface="Lora"/>
              <a:cs typeface="Lora"/>
              <a:sym typeface="Lora"/>
            </a:endParaRPr>
          </a:p>
        </p:txBody>
      </p:sp>
      <p:sp>
        <p:nvSpPr>
          <p:cNvPr id="170" name="Google Shape;170;p31"/>
          <p:cNvSpPr txBox="1"/>
          <p:nvPr/>
        </p:nvSpPr>
        <p:spPr>
          <a:xfrm>
            <a:off x="5472475" y="1958525"/>
            <a:ext cx="1553700" cy="90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ora"/>
                <a:ea typeface="Lora"/>
                <a:cs typeface="Lora"/>
                <a:sym typeface="Lora"/>
              </a:rPr>
              <a:t>Model Denial of Services</a:t>
            </a:r>
            <a:endParaRPr b="0" i="0" sz="1400" u="none" cap="none" strike="noStrike">
              <a:solidFill>
                <a:schemeClr val="dk1"/>
              </a:solidFill>
              <a:latin typeface="Lora"/>
              <a:ea typeface="Lora"/>
              <a:cs typeface="Lora"/>
              <a:sym typeface="Lora"/>
            </a:endParaRPr>
          </a:p>
        </p:txBody>
      </p:sp>
      <p:sp>
        <p:nvSpPr>
          <p:cNvPr id="171" name="Google Shape;171;p31"/>
          <p:cNvSpPr txBox="1"/>
          <p:nvPr/>
        </p:nvSpPr>
        <p:spPr>
          <a:xfrm>
            <a:off x="7148975" y="1958525"/>
            <a:ext cx="1553700" cy="90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ora"/>
                <a:ea typeface="Lora"/>
                <a:cs typeface="Lora"/>
                <a:sym typeface="Lora"/>
              </a:rPr>
              <a:t>Supply Chain Vulnerabilities</a:t>
            </a:r>
            <a:endParaRPr b="0" i="0" sz="1400" u="none" cap="none" strike="noStrike">
              <a:solidFill>
                <a:schemeClr val="dk1"/>
              </a:solidFill>
              <a:latin typeface="Lora"/>
              <a:ea typeface="Lora"/>
              <a:cs typeface="Lora"/>
              <a:sym typeface="Lora"/>
            </a:endParaRPr>
          </a:p>
        </p:txBody>
      </p:sp>
      <p:sp>
        <p:nvSpPr>
          <p:cNvPr id="172" name="Google Shape;172;p31"/>
          <p:cNvSpPr txBox="1"/>
          <p:nvPr/>
        </p:nvSpPr>
        <p:spPr>
          <a:xfrm>
            <a:off x="438150" y="2915713"/>
            <a:ext cx="1553700" cy="90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ora"/>
                <a:ea typeface="Lora"/>
                <a:cs typeface="Lora"/>
                <a:sym typeface="Lora"/>
              </a:rPr>
              <a:t>Sensitive Info Disclosure</a:t>
            </a:r>
            <a:endParaRPr b="0" i="0" sz="1400" u="none" cap="none" strike="noStrike">
              <a:solidFill>
                <a:schemeClr val="dk1"/>
              </a:solidFill>
              <a:latin typeface="Lora"/>
              <a:ea typeface="Lora"/>
              <a:cs typeface="Lora"/>
              <a:sym typeface="Lora"/>
            </a:endParaRPr>
          </a:p>
        </p:txBody>
      </p:sp>
      <p:sp>
        <p:nvSpPr>
          <p:cNvPr id="173" name="Google Shape;173;p31"/>
          <p:cNvSpPr txBox="1"/>
          <p:nvPr/>
        </p:nvSpPr>
        <p:spPr>
          <a:xfrm>
            <a:off x="2109825" y="2918138"/>
            <a:ext cx="1553700" cy="90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ora"/>
                <a:ea typeface="Lora"/>
                <a:cs typeface="Lora"/>
                <a:sym typeface="Lora"/>
              </a:rPr>
              <a:t>Insecure Plugin Design</a:t>
            </a:r>
            <a:endParaRPr b="0" i="0" sz="1400" u="none" cap="none" strike="noStrike">
              <a:solidFill>
                <a:schemeClr val="dk1"/>
              </a:solidFill>
              <a:latin typeface="Lora"/>
              <a:ea typeface="Lora"/>
              <a:cs typeface="Lora"/>
              <a:sym typeface="Lora"/>
            </a:endParaRPr>
          </a:p>
        </p:txBody>
      </p:sp>
      <p:sp>
        <p:nvSpPr>
          <p:cNvPr id="174" name="Google Shape;174;p31"/>
          <p:cNvSpPr txBox="1"/>
          <p:nvPr/>
        </p:nvSpPr>
        <p:spPr>
          <a:xfrm>
            <a:off x="3800800" y="2918138"/>
            <a:ext cx="1553700" cy="90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ora"/>
                <a:ea typeface="Lora"/>
                <a:cs typeface="Lora"/>
                <a:sym typeface="Lora"/>
              </a:rPr>
              <a:t>Excessive Agency</a:t>
            </a:r>
            <a:endParaRPr b="0" i="0" sz="1400" u="none" cap="none" strike="noStrike">
              <a:solidFill>
                <a:schemeClr val="dk1"/>
              </a:solidFill>
              <a:latin typeface="Lora"/>
              <a:ea typeface="Lora"/>
              <a:cs typeface="Lora"/>
              <a:sym typeface="Lora"/>
            </a:endParaRPr>
          </a:p>
        </p:txBody>
      </p:sp>
      <p:sp>
        <p:nvSpPr>
          <p:cNvPr id="175" name="Google Shape;175;p31"/>
          <p:cNvSpPr txBox="1"/>
          <p:nvPr/>
        </p:nvSpPr>
        <p:spPr>
          <a:xfrm>
            <a:off x="5477300" y="2915713"/>
            <a:ext cx="1553700" cy="90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ora"/>
                <a:ea typeface="Lora"/>
                <a:cs typeface="Lora"/>
                <a:sym typeface="Lora"/>
              </a:rPr>
              <a:t>Over-reliance</a:t>
            </a:r>
            <a:endParaRPr b="0" i="0" sz="1400" u="none" cap="none" strike="noStrike">
              <a:solidFill>
                <a:schemeClr val="dk1"/>
              </a:solidFill>
              <a:latin typeface="Lora"/>
              <a:ea typeface="Lora"/>
              <a:cs typeface="Lora"/>
              <a:sym typeface="Lora"/>
            </a:endParaRPr>
          </a:p>
        </p:txBody>
      </p:sp>
      <p:sp>
        <p:nvSpPr>
          <p:cNvPr id="176" name="Google Shape;176;p31"/>
          <p:cNvSpPr txBox="1"/>
          <p:nvPr/>
        </p:nvSpPr>
        <p:spPr>
          <a:xfrm>
            <a:off x="7153800" y="2915713"/>
            <a:ext cx="1553700" cy="90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ora"/>
                <a:ea typeface="Lora"/>
                <a:cs typeface="Lora"/>
                <a:sym typeface="Lora"/>
              </a:rPr>
              <a:t>Model Theft</a:t>
            </a:r>
            <a:endParaRPr b="0" i="0" sz="1400" u="none" cap="none" strike="noStrike">
              <a:solidFill>
                <a:schemeClr val="dk1"/>
              </a:solidFill>
              <a:latin typeface="Lora"/>
              <a:ea typeface="Lora"/>
              <a:cs typeface="Lora"/>
              <a:sym typeface="Lora"/>
            </a:endParaRPr>
          </a:p>
        </p:txBody>
      </p:sp>
      <p:sp>
        <p:nvSpPr>
          <p:cNvPr id="177" name="Google Shape;177;p31"/>
          <p:cNvSpPr/>
          <p:nvPr/>
        </p:nvSpPr>
        <p:spPr>
          <a:xfrm>
            <a:off x="535725" y="2063825"/>
            <a:ext cx="639600" cy="153300"/>
          </a:xfrm>
          <a:prstGeom prst="rect">
            <a:avLst/>
          </a:prstGeom>
          <a:gradFill>
            <a:gsLst>
              <a:gs pos="0">
                <a:srgbClr val="4D29AA"/>
              </a:gs>
              <a:gs pos="100000">
                <a:srgbClr val="1E123D"/>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Lora"/>
                <a:ea typeface="Lora"/>
                <a:cs typeface="Lora"/>
                <a:sym typeface="Lora"/>
              </a:rPr>
              <a:t>LLM 1</a:t>
            </a:r>
            <a:endParaRPr b="0" i="0" sz="800" u="none" cap="none" strike="noStrike">
              <a:solidFill>
                <a:schemeClr val="dk1"/>
              </a:solidFill>
              <a:latin typeface="Lora"/>
              <a:ea typeface="Lora"/>
              <a:cs typeface="Lora"/>
              <a:sym typeface="Lora"/>
            </a:endParaRPr>
          </a:p>
        </p:txBody>
      </p:sp>
      <p:sp>
        <p:nvSpPr>
          <p:cNvPr id="178" name="Google Shape;178;p31"/>
          <p:cNvSpPr/>
          <p:nvPr/>
        </p:nvSpPr>
        <p:spPr>
          <a:xfrm>
            <a:off x="535725" y="3059650"/>
            <a:ext cx="639600" cy="153300"/>
          </a:xfrm>
          <a:prstGeom prst="rect">
            <a:avLst/>
          </a:prstGeom>
          <a:gradFill>
            <a:gsLst>
              <a:gs pos="0">
                <a:srgbClr val="4D29AA"/>
              </a:gs>
              <a:gs pos="100000">
                <a:srgbClr val="1E123D"/>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Lora"/>
                <a:ea typeface="Lora"/>
                <a:cs typeface="Lora"/>
                <a:sym typeface="Lora"/>
              </a:rPr>
              <a:t>LLM 6</a:t>
            </a:r>
            <a:endParaRPr b="0" i="0" sz="800" u="none" cap="none" strike="noStrike">
              <a:solidFill>
                <a:schemeClr val="dk1"/>
              </a:solidFill>
              <a:latin typeface="Lora"/>
              <a:ea typeface="Lora"/>
              <a:cs typeface="Lora"/>
              <a:sym typeface="Lora"/>
            </a:endParaRPr>
          </a:p>
        </p:txBody>
      </p:sp>
      <p:sp>
        <p:nvSpPr>
          <p:cNvPr id="179" name="Google Shape;179;p31"/>
          <p:cNvSpPr/>
          <p:nvPr/>
        </p:nvSpPr>
        <p:spPr>
          <a:xfrm>
            <a:off x="2205950" y="2063825"/>
            <a:ext cx="639600" cy="153300"/>
          </a:xfrm>
          <a:prstGeom prst="rect">
            <a:avLst/>
          </a:prstGeom>
          <a:gradFill>
            <a:gsLst>
              <a:gs pos="0">
                <a:srgbClr val="4D29AA"/>
              </a:gs>
              <a:gs pos="100000">
                <a:srgbClr val="1E123D"/>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Lora"/>
                <a:ea typeface="Lora"/>
                <a:cs typeface="Lora"/>
                <a:sym typeface="Lora"/>
              </a:rPr>
              <a:t>LLM 2</a:t>
            </a:r>
            <a:endParaRPr b="0" i="0" sz="800" u="none" cap="none" strike="noStrike">
              <a:solidFill>
                <a:schemeClr val="dk1"/>
              </a:solidFill>
              <a:latin typeface="Lora"/>
              <a:ea typeface="Lora"/>
              <a:cs typeface="Lora"/>
              <a:sym typeface="Lora"/>
            </a:endParaRPr>
          </a:p>
        </p:txBody>
      </p:sp>
      <p:sp>
        <p:nvSpPr>
          <p:cNvPr id="180" name="Google Shape;180;p31"/>
          <p:cNvSpPr/>
          <p:nvPr/>
        </p:nvSpPr>
        <p:spPr>
          <a:xfrm>
            <a:off x="2205950" y="3059650"/>
            <a:ext cx="639600" cy="153300"/>
          </a:xfrm>
          <a:prstGeom prst="rect">
            <a:avLst/>
          </a:prstGeom>
          <a:gradFill>
            <a:gsLst>
              <a:gs pos="0">
                <a:srgbClr val="4D29AA"/>
              </a:gs>
              <a:gs pos="100000">
                <a:srgbClr val="1E123D"/>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Lora"/>
                <a:ea typeface="Lora"/>
                <a:cs typeface="Lora"/>
                <a:sym typeface="Lora"/>
              </a:rPr>
              <a:t>LLM 7</a:t>
            </a:r>
            <a:endParaRPr b="0" i="0" sz="800" u="none" cap="none" strike="noStrike">
              <a:solidFill>
                <a:schemeClr val="dk1"/>
              </a:solidFill>
              <a:latin typeface="Lora"/>
              <a:ea typeface="Lora"/>
              <a:cs typeface="Lora"/>
              <a:sym typeface="Lora"/>
            </a:endParaRPr>
          </a:p>
        </p:txBody>
      </p:sp>
      <p:sp>
        <p:nvSpPr>
          <p:cNvPr id="181" name="Google Shape;181;p31"/>
          <p:cNvSpPr/>
          <p:nvPr/>
        </p:nvSpPr>
        <p:spPr>
          <a:xfrm>
            <a:off x="3897425" y="2063825"/>
            <a:ext cx="639600" cy="153300"/>
          </a:xfrm>
          <a:prstGeom prst="rect">
            <a:avLst/>
          </a:prstGeom>
          <a:gradFill>
            <a:gsLst>
              <a:gs pos="0">
                <a:srgbClr val="4D29AA"/>
              </a:gs>
              <a:gs pos="100000">
                <a:srgbClr val="1E123D"/>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Lora"/>
                <a:ea typeface="Lora"/>
                <a:cs typeface="Lora"/>
                <a:sym typeface="Lora"/>
              </a:rPr>
              <a:t>LLM 3</a:t>
            </a:r>
            <a:endParaRPr b="0" i="0" sz="800" u="none" cap="none" strike="noStrike">
              <a:solidFill>
                <a:schemeClr val="dk1"/>
              </a:solidFill>
              <a:latin typeface="Lora"/>
              <a:ea typeface="Lora"/>
              <a:cs typeface="Lora"/>
              <a:sym typeface="Lora"/>
            </a:endParaRPr>
          </a:p>
        </p:txBody>
      </p:sp>
      <p:sp>
        <p:nvSpPr>
          <p:cNvPr id="182" name="Google Shape;182;p31"/>
          <p:cNvSpPr/>
          <p:nvPr/>
        </p:nvSpPr>
        <p:spPr>
          <a:xfrm>
            <a:off x="3897425" y="3059650"/>
            <a:ext cx="639600" cy="153300"/>
          </a:xfrm>
          <a:prstGeom prst="rect">
            <a:avLst/>
          </a:prstGeom>
          <a:gradFill>
            <a:gsLst>
              <a:gs pos="0">
                <a:srgbClr val="4D29AA"/>
              </a:gs>
              <a:gs pos="100000">
                <a:srgbClr val="1E123D"/>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Lora"/>
                <a:ea typeface="Lora"/>
                <a:cs typeface="Lora"/>
                <a:sym typeface="Lora"/>
              </a:rPr>
              <a:t>LLM 8</a:t>
            </a:r>
            <a:endParaRPr b="0" i="0" sz="800" u="none" cap="none" strike="noStrike">
              <a:solidFill>
                <a:schemeClr val="dk1"/>
              </a:solidFill>
              <a:latin typeface="Lora"/>
              <a:ea typeface="Lora"/>
              <a:cs typeface="Lora"/>
              <a:sym typeface="Lora"/>
            </a:endParaRPr>
          </a:p>
        </p:txBody>
      </p:sp>
      <p:sp>
        <p:nvSpPr>
          <p:cNvPr id="183" name="Google Shape;183;p31"/>
          <p:cNvSpPr/>
          <p:nvPr/>
        </p:nvSpPr>
        <p:spPr>
          <a:xfrm>
            <a:off x="5567650" y="2063825"/>
            <a:ext cx="639600" cy="153300"/>
          </a:xfrm>
          <a:prstGeom prst="rect">
            <a:avLst/>
          </a:prstGeom>
          <a:gradFill>
            <a:gsLst>
              <a:gs pos="0">
                <a:srgbClr val="4D29AA"/>
              </a:gs>
              <a:gs pos="100000">
                <a:srgbClr val="1E123D"/>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Lora"/>
                <a:ea typeface="Lora"/>
                <a:cs typeface="Lora"/>
                <a:sym typeface="Lora"/>
              </a:rPr>
              <a:t>LLM 4</a:t>
            </a:r>
            <a:endParaRPr b="0" i="0" sz="800" u="none" cap="none" strike="noStrike">
              <a:solidFill>
                <a:schemeClr val="dk1"/>
              </a:solidFill>
              <a:latin typeface="Lora"/>
              <a:ea typeface="Lora"/>
              <a:cs typeface="Lora"/>
              <a:sym typeface="Lora"/>
            </a:endParaRPr>
          </a:p>
        </p:txBody>
      </p:sp>
      <p:sp>
        <p:nvSpPr>
          <p:cNvPr id="184" name="Google Shape;184;p31"/>
          <p:cNvSpPr/>
          <p:nvPr/>
        </p:nvSpPr>
        <p:spPr>
          <a:xfrm>
            <a:off x="5567650" y="3059650"/>
            <a:ext cx="639600" cy="153300"/>
          </a:xfrm>
          <a:prstGeom prst="rect">
            <a:avLst/>
          </a:prstGeom>
          <a:gradFill>
            <a:gsLst>
              <a:gs pos="0">
                <a:srgbClr val="4D29AA"/>
              </a:gs>
              <a:gs pos="100000">
                <a:srgbClr val="1E123D"/>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Lora"/>
                <a:ea typeface="Lora"/>
                <a:cs typeface="Lora"/>
                <a:sym typeface="Lora"/>
              </a:rPr>
              <a:t>LLM 9</a:t>
            </a:r>
            <a:endParaRPr b="0" i="0" sz="800" u="none" cap="none" strike="noStrike">
              <a:solidFill>
                <a:schemeClr val="dk1"/>
              </a:solidFill>
              <a:latin typeface="Lora"/>
              <a:ea typeface="Lora"/>
              <a:cs typeface="Lora"/>
              <a:sym typeface="Lora"/>
            </a:endParaRPr>
          </a:p>
        </p:txBody>
      </p:sp>
      <p:sp>
        <p:nvSpPr>
          <p:cNvPr id="185" name="Google Shape;185;p31"/>
          <p:cNvSpPr/>
          <p:nvPr/>
        </p:nvSpPr>
        <p:spPr>
          <a:xfrm>
            <a:off x="7259125" y="2063825"/>
            <a:ext cx="639600" cy="153300"/>
          </a:xfrm>
          <a:prstGeom prst="rect">
            <a:avLst/>
          </a:prstGeom>
          <a:gradFill>
            <a:gsLst>
              <a:gs pos="0">
                <a:srgbClr val="4D29AA"/>
              </a:gs>
              <a:gs pos="100000">
                <a:srgbClr val="1E123D"/>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Lora"/>
                <a:ea typeface="Lora"/>
                <a:cs typeface="Lora"/>
                <a:sym typeface="Lora"/>
              </a:rPr>
              <a:t>LLM 5</a:t>
            </a:r>
            <a:endParaRPr b="0" i="0" sz="800" u="none" cap="none" strike="noStrike">
              <a:solidFill>
                <a:schemeClr val="dk1"/>
              </a:solidFill>
              <a:latin typeface="Lora"/>
              <a:ea typeface="Lora"/>
              <a:cs typeface="Lora"/>
              <a:sym typeface="Lora"/>
            </a:endParaRPr>
          </a:p>
        </p:txBody>
      </p:sp>
      <p:sp>
        <p:nvSpPr>
          <p:cNvPr id="186" name="Google Shape;186;p31"/>
          <p:cNvSpPr/>
          <p:nvPr/>
        </p:nvSpPr>
        <p:spPr>
          <a:xfrm>
            <a:off x="7259125" y="3059650"/>
            <a:ext cx="639600" cy="153300"/>
          </a:xfrm>
          <a:prstGeom prst="rect">
            <a:avLst/>
          </a:prstGeom>
          <a:gradFill>
            <a:gsLst>
              <a:gs pos="0">
                <a:srgbClr val="4D29AA"/>
              </a:gs>
              <a:gs pos="100000">
                <a:srgbClr val="1E123D"/>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Lora"/>
                <a:ea typeface="Lora"/>
                <a:cs typeface="Lora"/>
                <a:sym typeface="Lora"/>
              </a:rPr>
              <a:t>LLM 10</a:t>
            </a:r>
            <a:endParaRPr b="0" i="0" sz="800" u="none" cap="none" strike="noStrike">
              <a:solidFill>
                <a:schemeClr val="dk1"/>
              </a:solidFill>
              <a:latin typeface="Lora"/>
              <a:ea typeface="Lora"/>
              <a:cs typeface="Lora"/>
              <a:sym typeface="Lora"/>
            </a:endParaRPr>
          </a:p>
        </p:txBody>
      </p:sp>
      <p:pic>
        <p:nvPicPr>
          <p:cNvPr id="187" name="Google Shape;187;p31"/>
          <p:cNvPicPr preferRelativeResize="0"/>
          <p:nvPr/>
        </p:nvPicPr>
        <p:blipFill rotWithShape="1">
          <a:blip r:embed="rId3">
            <a:alphaModFix/>
          </a:blip>
          <a:srcRect b="0" l="0" r="0" t="0"/>
          <a:stretch/>
        </p:blipFill>
        <p:spPr>
          <a:xfrm>
            <a:off x="423675" y="267338"/>
            <a:ext cx="769325" cy="769325"/>
          </a:xfrm>
          <a:prstGeom prst="rect">
            <a:avLst/>
          </a:prstGeom>
          <a:noFill/>
          <a:ln>
            <a:noFill/>
          </a:ln>
        </p:spPr>
      </p:pic>
      <p:grpSp>
        <p:nvGrpSpPr>
          <p:cNvPr id="188" name="Google Shape;188;p31"/>
          <p:cNvGrpSpPr/>
          <p:nvPr/>
        </p:nvGrpSpPr>
        <p:grpSpPr>
          <a:xfrm>
            <a:off x="352025" y="1894550"/>
            <a:ext cx="5035888" cy="2053500"/>
            <a:chOff x="352025" y="1894550"/>
            <a:chExt cx="5035888" cy="2053500"/>
          </a:xfrm>
        </p:grpSpPr>
        <p:sp>
          <p:nvSpPr>
            <p:cNvPr id="189" name="Google Shape;189;p31"/>
            <p:cNvSpPr/>
            <p:nvPr/>
          </p:nvSpPr>
          <p:spPr>
            <a:xfrm>
              <a:off x="361600" y="1894550"/>
              <a:ext cx="1635000" cy="1023600"/>
            </a:xfrm>
            <a:prstGeom prst="rect">
              <a:avLst/>
            </a:prstGeom>
            <a:noFill/>
            <a:ln cap="flat" cmpd="sng" w="38100">
              <a:solidFill>
                <a:srgbClr val="4D29A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31"/>
            <p:cNvSpPr/>
            <p:nvPr/>
          </p:nvSpPr>
          <p:spPr>
            <a:xfrm>
              <a:off x="352025" y="2924450"/>
              <a:ext cx="1635000" cy="1023600"/>
            </a:xfrm>
            <a:prstGeom prst="rect">
              <a:avLst/>
            </a:prstGeom>
            <a:noFill/>
            <a:ln cap="flat" cmpd="sng" w="38100">
              <a:solidFill>
                <a:srgbClr val="4D29A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31"/>
            <p:cNvSpPr/>
            <p:nvPr/>
          </p:nvSpPr>
          <p:spPr>
            <a:xfrm>
              <a:off x="2064350" y="1894550"/>
              <a:ext cx="1635000" cy="1023600"/>
            </a:xfrm>
            <a:prstGeom prst="rect">
              <a:avLst/>
            </a:prstGeom>
            <a:noFill/>
            <a:ln cap="flat" cmpd="sng" w="38100">
              <a:solidFill>
                <a:srgbClr val="4D29A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31"/>
            <p:cNvSpPr/>
            <p:nvPr/>
          </p:nvSpPr>
          <p:spPr>
            <a:xfrm>
              <a:off x="3752913" y="2924450"/>
              <a:ext cx="1635000" cy="1023600"/>
            </a:xfrm>
            <a:prstGeom prst="rect">
              <a:avLst/>
            </a:prstGeom>
            <a:noFill/>
            <a:ln cap="flat" cmpd="sng" w="38100">
              <a:solidFill>
                <a:srgbClr val="4D29A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3" name="Google Shape;193;p31"/>
          <p:cNvSpPr txBox="1"/>
          <p:nvPr/>
        </p:nvSpPr>
        <p:spPr>
          <a:xfrm>
            <a:off x="2781775" y="456550"/>
            <a:ext cx="1404000" cy="20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00">
                <a:solidFill>
                  <a:srgbClr val="F8F9FA"/>
                </a:solidFill>
                <a:latin typeface="Lora"/>
                <a:ea typeface="Lora"/>
                <a:cs typeface="Lora"/>
                <a:sym typeface="Lora"/>
              </a:rPr>
              <a:t>Open Web Application Security Project</a:t>
            </a:r>
            <a:endParaRPr sz="400">
              <a:solidFill>
                <a:srgbClr val="F8F9FA"/>
              </a:solidFill>
              <a:latin typeface="Lora"/>
              <a:ea typeface="Lora"/>
              <a:cs typeface="Lora"/>
              <a:sym typeface="Lor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4000"/>
                                        <p:tgtEl>
                                          <p:spTgt spid="1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32"/>
          <p:cNvPicPr preferRelativeResize="0"/>
          <p:nvPr/>
        </p:nvPicPr>
        <p:blipFill rotWithShape="1">
          <a:blip r:embed="rId3">
            <a:alphaModFix/>
          </a:blip>
          <a:srcRect b="13323" l="26620" r="25714" t="14620"/>
          <a:stretch/>
        </p:blipFill>
        <p:spPr>
          <a:xfrm>
            <a:off x="2899625" y="43100"/>
            <a:ext cx="3390900" cy="5100300"/>
          </a:xfrm>
          <a:prstGeom prst="rect">
            <a:avLst/>
          </a:prstGeom>
          <a:noFill/>
          <a:ln>
            <a:noFill/>
          </a:ln>
        </p:spPr>
      </p:pic>
      <p:pic>
        <p:nvPicPr>
          <p:cNvPr id="199" name="Google Shape;199;p32"/>
          <p:cNvPicPr preferRelativeResize="0"/>
          <p:nvPr/>
        </p:nvPicPr>
        <p:blipFill>
          <a:blip r:embed="rId4">
            <a:alphaModFix/>
          </a:blip>
          <a:stretch>
            <a:fillRect/>
          </a:stretch>
        </p:blipFill>
        <p:spPr>
          <a:xfrm>
            <a:off x="2899625" y="43100"/>
            <a:ext cx="3390901" cy="513164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3"/>
          <p:cNvSpPr txBox="1"/>
          <p:nvPr/>
        </p:nvSpPr>
        <p:spPr>
          <a:xfrm>
            <a:off x="509100" y="230175"/>
            <a:ext cx="7943400" cy="394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highlight>
                <a:schemeClr val="accent3"/>
              </a:highlight>
            </a:endParaRPr>
          </a:p>
        </p:txBody>
      </p:sp>
      <p:pic>
        <p:nvPicPr>
          <p:cNvPr id="205" name="Google Shape;205;p33"/>
          <p:cNvPicPr preferRelativeResize="0"/>
          <p:nvPr/>
        </p:nvPicPr>
        <p:blipFill>
          <a:blip r:embed="rId3">
            <a:alphaModFix/>
          </a:blip>
          <a:stretch>
            <a:fillRect/>
          </a:stretch>
        </p:blipFill>
        <p:spPr>
          <a:xfrm>
            <a:off x="0" y="0"/>
            <a:ext cx="9883725" cy="5096301"/>
          </a:xfrm>
          <a:prstGeom prst="rect">
            <a:avLst/>
          </a:prstGeom>
          <a:solidFill>
            <a:schemeClr val="dk1"/>
          </a:solidFill>
          <a:ln cap="flat" cmpd="sng" w="9525">
            <a:solidFill>
              <a:schemeClr val="dk2"/>
            </a:solidFill>
            <a:prstDash val="solid"/>
            <a:round/>
            <a:headEnd len="sm" w="sm" type="none"/>
            <a:tailEnd len="sm" w="sm" type="none"/>
          </a:ln>
        </p:spPr>
      </p:pic>
      <p:sp>
        <p:nvSpPr>
          <p:cNvPr id="206" name="Google Shape;206;p33"/>
          <p:cNvSpPr txBox="1"/>
          <p:nvPr/>
        </p:nvSpPr>
        <p:spPr>
          <a:xfrm>
            <a:off x="5451600" y="0"/>
            <a:ext cx="3692400" cy="366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600">
                <a:solidFill>
                  <a:schemeClr val="dk1"/>
                </a:solidFill>
              </a:rPr>
              <a:t>DEMO PURPOSES ONLY</a:t>
            </a:r>
            <a:endParaRPr b="1" sz="16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4"/>
          <p:cNvSpPr/>
          <p:nvPr/>
        </p:nvSpPr>
        <p:spPr>
          <a:xfrm>
            <a:off x="0" y="4323575"/>
            <a:ext cx="9144000" cy="819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34"/>
          <p:cNvSpPr txBox="1"/>
          <p:nvPr/>
        </p:nvSpPr>
        <p:spPr>
          <a:xfrm>
            <a:off x="509100" y="230175"/>
            <a:ext cx="7943400" cy="394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highlight>
                <a:schemeClr val="accent3"/>
              </a:highlight>
            </a:endParaRPr>
          </a:p>
        </p:txBody>
      </p:sp>
      <p:pic>
        <p:nvPicPr>
          <p:cNvPr id="213" name="Google Shape;213;p34"/>
          <p:cNvPicPr preferRelativeResize="0"/>
          <p:nvPr/>
        </p:nvPicPr>
        <p:blipFill>
          <a:blip r:embed="rId3">
            <a:alphaModFix/>
          </a:blip>
          <a:stretch>
            <a:fillRect/>
          </a:stretch>
        </p:blipFill>
        <p:spPr>
          <a:xfrm>
            <a:off x="0" y="0"/>
            <a:ext cx="9144003" cy="5688200"/>
          </a:xfrm>
          <a:prstGeom prst="rect">
            <a:avLst/>
          </a:prstGeom>
          <a:noFill/>
          <a:ln>
            <a:noFill/>
          </a:ln>
        </p:spPr>
      </p:pic>
      <p:sp>
        <p:nvSpPr>
          <p:cNvPr id="214" name="Google Shape;214;p34"/>
          <p:cNvSpPr txBox="1"/>
          <p:nvPr/>
        </p:nvSpPr>
        <p:spPr>
          <a:xfrm>
            <a:off x="5451600" y="0"/>
            <a:ext cx="3692400" cy="366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600">
                <a:solidFill>
                  <a:schemeClr val="dk1"/>
                </a:solidFill>
              </a:rPr>
              <a:t>DEMO PURPOSES ONLY</a:t>
            </a:r>
            <a:endParaRPr b="1" sz="16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35"/>
          <p:cNvPicPr preferRelativeResize="0"/>
          <p:nvPr/>
        </p:nvPicPr>
        <p:blipFill>
          <a:blip r:embed="rId3">
            <a:alphaModFix/>
          </a:blip>
          <a:stretch>
            <a:fillRect/>
          </a:stretch>
        </p:blipFill>
        <p:spPr>
          <a:xfrm>
            <a:off x="4516713" y="965725"/>
            <a:ext cx="3394825" cy="3394825"/>
          </a:xfrm>
          <a:prstGeom prst="rect">
            <a:avLst/>
          </a:prstGeom>
          <a:noFill/>
          <a:ln>
            <a:noFill/>
          </a:ln>
        </p:spPr>
      </p:pic>
      <p:sp>
        <p:nvSpPr>
          <p:cNvPr id="220" name="Google Shape;220;p35"/>
          <p:cNvSpPr txBox="1"/>
          <p:nvPr/>
        </p:nvSpPr>
        <p:spPr>
          <a:xfrm>
            <a:off x="3352579" y="161025"/>
            <a:ext cx="5723100" cy="601500"/>
          </a:xfrm>
          <a:prstGeom prst="rect">
            <a:avLst/>
          </a:prstGeom>
          <a:noFill/>
          <a:ln>
            <a:noFill/>
          </a:ln>
        </p:spPr>
        <p:txBody>
          <a:bodyPr anchorCtr="0" anchor="ctr" bIns="28700" lIns="57400" spcFirstLastPara="1" rIns="57400" wrap="square" tIns="28700">
            <a:spAutoFit/>
          </a:bodyPr>
          <a:lstStyle/>
          <a:p>
            <a:pPr indent="0" lvl="0" marL="0" marR="0" rtl="0" algn="ctr">
              <a:lnSpc>
                <a:spcPct val="80000"/>
              </a:lnSpc>
              <a:spcBef>
                <a:spcPts val="0"/>
              </a:spcBef>
              <a:spcAft>
                <a:spcPts val="0"/>
              </a:spcAft>
              <a:buClr>
                <a:srgbClr val="000000"/>
              </a:buClr>
              <a:buSzPts val="3014"/>
              <a:buFont typeface="Archivo Black"/>
              <a:buNone/>
            </a:pPr>
            <a:r>
              <a:rPr lang="en" sz="2614">
                <a:solidFill>
                  <a:schemeClr val="dk1"/>
                </a:solidFill>
                <a:latin typeface="Lora"/>
                <a:ea typeface="Lora"/>
                <a:cs typeface="Lora"/>
                <a:sym typeface="Lora"/>
              </a:rPr>
              <a:t>Let’s Dive in Together</a:t>
            </a:r>
            <a:endParaRPr sz="479">
              <a:solidFill>
                <a:schemeClr val="dk1"/>
              </a:solidFill>
              <a:latin typeface="Lora"/>
              <a:ea typeface="Lora"/>
              <a:cs typeface="Lora"/>
              <a:sym typeface="Lora"/>
            </a:endParaRPr>
          </a:p>
          <a:p>
            <a:pPr indent="0" lvl="0" marL="0" marR="0" rtl="0" algn="ctr">
              <a:lnSpc>
                <a:spcPct val="80000"/>
              </a:lnSpc>
              <a:spcBef>
                <a:spcPts val="0"/>
              </a:spcBef>
              <a:spcAft>
                <a:spcPts val="0"/>
              </a:spcAft>
              <a:buClr>
                <a:srgbClr val="000000"/>
              </a:buClr>
              <a:buSzPts val="3014"/>
              <a:buFont typeface="Archivo Black"/>
              <a:buNone/>
            </a:pPr>
            <a:r>
              <a:rPr i="1" lang="en" sz="1800">
                <a:solidFill>
                  <a:schemeClr val="dk1"/>
                </a:solidFill>
                <a:latin typeface="Lora"/>
                <a:ea typeface="Lora"/>
                <a:cs typeface="Lora"/>
                <a:sym typeface="Lora"/>
              </a:rPr>
              <a:t>Vulnerable AI Assistant</a:t>
            </a:r>
            <a:endParaRPr i="1" sz="1800">
              <a:solidFill>
                <a:schemeClr val="dk1"/>
              </a:solidFill>
              <a:latin typeface="Lora"/>
              <a:ea typeface="Lora"/>
              <a:cs typeface="Lora"/>
              <a:sym typeface="Lora"/>
            </a:endParaRPr>
          </a:p>
        </p:txBody>
      </p:sp>
      <p:pic>
        <p:nvPicPr>
          <p:cNvPr id="221" name="Google Shape;221;p35"/>
          <p:cNvPicPr preferRelativeResize="0"/>
          <p:nvPr/>
        </p:nvPicPr>
        <p:blipFill rotWithShape="1">
          <a:blip r:embed="rId4">
            <a:alphaModFix/>
          </a:blip>
          <a:srcRect b="0" l="13200" r="-13199" t="0"/>
          <a:stretch/>
        </p:blipFill>
        <p:spPr>
          <a:xfrm>
            <a:off x="-340462" y="0"/>
            <a:ext cx="3857626" cy="5143501"/>
          </a:xfrm>
          <a:prstGeom prst="rect">
            <a:avLst/>
          </a:prstGeom>
          <a:noFill/>
          <a:ln>
            <a:noFill/>
          </a:ln>
        </p:spPr>
      </p:pic>
      <p:sp>
        <p:nvSpPr>
          <p:cNvPr id="222" name="Google Shape;222;p35"/>
          <p:cNvSpPr txBox="1"/>
          <p:nvPr/>
        </p:nvSpPr>
        <p:spPr>
          <a:xfrm>
            <a:off x="3030025" y="4529900"/>
            <a:ext cx="6114000" cy="44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u="sng">
                <a:solidFill>
                  <a:schemeClr val="hlink"/>
                </a:solidFill>
                <a:latin typeface="Lora"/>
                <a:ea typeface="Lora"/>
                <a:cs typeface="Lora"/>
                <a:sym typeface="Lora"/>
                <a:hlinkClick r:id="rId5"/>
              </a:rPr>
              <a:t>https://bit.ly/ai-assistant-atl</a:t>
            </a:r>
            <a:r>
              <a:rPr lang="en" sz="1800">
                <a:solidFill>
                  <a:schemeClr val="lt2"/>
                </a:solidFill>
                <a:latin typeface="Lora"/>
                <a:ea typeface="Lora"/>
                <a:cs typeface="Lora"/>
                <a:sym typeface="Lora"/>
              </a:rPr>
              <a:t> </a:t>
            </a:r>
            <a:endParaRPr sz="1800">
              <a:solidFill>
                <a:schemeClr val="lt2"/>
              </a:solidFill>
              <a:latin typeface="Lora"/>
              <a:ea typeface="Lora"/>
              <a:cs typeface="Lora"/>
              <a:sym typeface="Lo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p:nvPr/>
        </p:nvSpPr>
        <p:spPr>
          <a:xfrm>
            <a:off x="0" y="4323575"/>
            <a:ext cx="9144000" cy="819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36"/>
          <p:cNvSpPr txBox="1"/>
          <p:nvPr/>
        </p:nvSpPr>
        <p:spPr>
          <a:xfrm>
            <a:off x="509100" y="230175"/>
            <a:ext cx="7943400" cy="394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highlight>
                <a:schemeClr val="accent3"/>
              </a:highlight>
            </a:endParaRPr>
          </a:p>
        </p:txBody>
      </p:sp>
      <p:sp>
        <p:nvSpPr>
          <p:cNvPr id="229" name="Google Shape;229;p36"/>
          <p:cNvSpPr txBox="1"/>
          <p:nvPr/>
        </p:nvSpPr>
        <p:spPr>
          <a:xfrm>
            <a:off x="5451600" y="0"/>
            <a:ext cx="3692400" cy="366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600">
                <a:solidFill>
                  <a:schemeClr val="dk1"/>
                </a:solidFill>
              </a:rPr>
              <a:t>DEMO PURPOSES ONLY</a:t>
            </a:r>
            <a:endParaRPr b="1" sz="1600">
              <a:solidFill>
                <a:schemeClr val="dk1"/>
              </a:solidFill>
            </a:endParaRPr>
          </a:p>
        </p:txBody>
      </p:sp>
      <p:pic>
        <p:nvPicPr>
          <p:cNvPr id="230" name="Google Shape;230;p36"/>
          <p:cNvPicPr preferRelativeResize="0"/>
          <p:nvPr/>
        </p:nvPicPr>
        <p:blipFill>
          <a:blip r:embed="rId3">
            <a:alphaModFix/>
          </a:blip>
          <a:stretch>
            <a:fillRect/>
          </a:stretch>
        </p:blipFill>
        <p:spPr>
          <a:xfrm>
            <a:off x="-97350" y="0"/>
            <a:ext cx="9241349"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p:nvPr/>
        </p:nvSpPr>
        <p:spPr>
          <a:xfrm>
            <a:off x="0" y="4323575"/>
            <a:ext cx="9144000" cy="819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7"/>
          <p:cNvSpPr txBox="1"/>
          <p:nvPr/>
        </p:nvSpPr>
        <p:spPr>
          <a:xfrm>
            <a:off x="509100" y="230175"/>
            <a:ext cx="7943400" cy="394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highlight>
                <a:schemeClr val="accent3"/>
              </a:highlight>
            </a:endParaRPr>
          </a:p>
        </p:txBody>
      </p:sp>
      <p:sp>
        <p:nvSpPr>
          <p:cNvPr id="237" name="Google Shape;237;p37"/>
          <p:cNvSpPr txBox="1"/>
          <p:nvPr/>
        </p:nvSpPr>
        <p:spPr>
          <a:xfrm>
            <a:off x="5451600" y="0"/>
            <a:ext cx="3692400" cy="366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600">
                <a:solidFill>
                  <a:schemeClr val="dk1"/>
                </a:solidFill>
              </a:rPr>
              <a:t>DEMO PURPOSES ONLY</a:t>
            </a:r>
            <a:endParaRPr b="1" sz="1600">
              <a:solidFill>
                <a:schemeClr val="dk1"/>
              </a:solidFill>
            </a:endParaRPr>
          </a:p>
        </p:txBody>
      </p:sp>
      <p:pic>
        <p:nvPicPr>
          <p:cNvPr id="238" name="Google Shape;238;p37"/>
          <p:cNvPicPr preferRelativeResize="0"/>
          <p:nvPr/>
        </p:nvPicPr>
        <p:blipFill>
          <a:blip r:embed="rId3">
            <a:alphaModFix/>
          </a:blip>
          <a:stretch>
            <a:fillRect/>
          </a:stretch>
        </p:blipFill>
        <p:spPr>
          <a:xfrm>
            <a:off x="0" y="0"/>
            <a:ext cx="9144003" cy="51435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38"/>
          <p:cNvPicPr preferRelativeResize="0"/>
          <p:nvPr/>
        </p:nvPicPr>
        <p:blipFill rotWithShape="1">
          <a:blip r:embed="rId3">
            <a:alphaModFix/>
          </a:blip>
          <a:srcRect b="0" l="13200" r="-13199" t="0"/>
          <a:stretch/>
        </p:blipFill>
        <p:spPr>
          <a:xfrm>
            <a:off x="-340462" y="0"/>
            <a:ext cx="3857626" cy="5143501"/>
          </a:xfrm>
          <a:prstGeom prst="rect">
            <a:avLst/>
          </a:prstGeom>
          <a:noFill/>
          <a:ln>
            <a:noFill/>
          </a:ln>
        </p:spPr>
      </p:pic>
      <p:sp>
        <p:nvSpPr>
          <p:cNvPr id="244" name="Google Shape;244;p38"/>
          <p:cNvSpPr txBox="1"/>
          <p:nvPr/>
        </p:nvSpPr>
        <p:spPr>
          <a:xfrm>
            <a:off x="3352579" y="161025"/>
            <a:ext cx="5723100" cy="601500"/>
          </a:xfrm>
          <a:prstGeom prst="rect">
            <a:avLst/>
          </a:prstGeom>
          <a:noFill/>
          <a:ln>
            <a:noFill/>
          </a:ln>
        </p:spPr>
        <p:txBody>
          <a:bodyPr anchorCtr="0" anchor="ctr" bIns="28700" lIns="57400" spcFirstLastPara="1" rIns="57400" wrap="square" tIns="28700">
            <a:spAutoFit/>
          </a:bodyPr>
          <a:lstStyle/>
          <a:p>
            <a:pPr indent="0" lvl="0" marL="0" marR="0" rtl="0" algn="ctr">
              <a:lnSpc>
                <a:spcPct val="80000"/>
              </a:lnSpc>
              <a:spcBef>
                <a:spcPts val="0"/>
              </a:spcBef>
              <a:spcAft>
                <a:spcPts val="0"/>
              </a:spcAft>
              <a:buClr>
                <a:srgbClr val="000000"/>
              </a:buClr>
              <a:buSzPts val="3014"/>
              <a:buFont typeface="Archivo Black"/>
              <a:buNone/>
            </a:pPr>
            <a:r>
              <a:rPr lang="en" sz="2614">
                <a:solidFill>
                  <a:schemeClr val="dk1"/>
                </a:solidFill>
                <a:latin typeface="Lora"/>
                <a:ea typeface="Lora"/>
                <a:cs typeface="Lora"/>
                <a:sym typeface="Lora"/>
              </a:rPr>
              <a:t>Let’s Dive in Together</a:t>
            </a:r>
            <a:endParaRPr sz="479">
              <a:solidFill>
                <a:schemeClr val="dk1"/>
              </a:solidFill>
              <a:latin typeface="Lora"/>
              <a:ea typeface="Lora"/>
              <a:cs typeface="Lora"/>
              <a:sym typeface="Lora"/>
            </a:endParaRPr>
          </a:p>
          <a:p>
            <a:pPr indent="0" lvl="0" marL="0" marR="0" rtl="0" algn="ctr">
              <a:lnSpc>
                <a:spcPct val="80000"/>
              </a:lnSpc>
              <a:spcBef>
                <a:spcPts val="0"/>
              </a:spcBef>
              <a:spcAft>
                <a:spcPts val="0"/>
              </a:spcAft>
              <a:buClr>
                <a:srgbClr val="000000"/>
              </a:buClr>
              <a:buSzPts val="3014"/>
              <a:buFont typeface="Archivo Black"/>
              <a:buNone/>
            </a:pPr>
            <a:r>
              <a:rPr i="1" lang="en" sz="1800">
                <a:solidFill>
                  <a:schemeClr val="dk1"/>
                </a:solidFill>
                <a:latin typeface="Lora"/>
                <a:ea typeface="Lora"/>
                <a:cs typeface="Lora"/>
                <a:sym typeface="Lora"/>
              </a:rPr>
              <a:t>Web Summarizer</a:t>
            </a:r>
            <a:endParaRPr i="1" sz="1800">
              <a:solidFill>
                <a:schemeClr val="dk1"/>
              </a:solidFill>
              <a:latin typeface="Lora"/>
              <a:ea typeface="Lora"/>
              <a:cs typeface="Lora"/>
              <a:sym typeface="Lora"/>
            </a:endParaRPr>
          </a:p>
        </p:txBody>
      </p:sp>
      <p:pic>
        <p:nvPicPr>
          <p:cNvPr id="245" name="Google Shape;245;p38"/>
          <p:cNvPicPr preferRelativeResize="0"/>
          <p:nvPr/>
        </p:nvPicPr>
        <p:blipFill>
          <a:blip r:embed="rId4">
            <a:alphaModFix/>
          </a:blip>
          <a:stretch>
            <a:fillRect/>
          </a:stretch>
        </p:blipFill>
        <p:spPr>
          <a:xfrm>
            <a:off x="4487424" y="930850"/>
            <a:ext cx="3453400" cy="3453400"/>
          </a:xfrm>
          <a:prstGeom prst="rect">
            <a:avLst/>
          </a:prstGeom>
          <a:noFill/>
          <a:ln>
            <a:noFill/>
          </a:ln>
        </p:spPr>
      </p:pic>
      <p:sp>
        <p:nvSpPr>
          <p:cNvPr id="246" name="Google Shape;246;p38"/>
          <p:cNvSpPr txBox="1"/>
          <p:nvPr/>
        </p:nvSpPr>
        <p:spPr>
          <a:xfrm>
            <a:off x="3006600" y="4514275"/>
            <a:ext cx="6137400" cy="4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u="sng">
                <a:solidFill>
                  <a:schemeClr val="hlink"/>
                </a:solidFill>
                <a:latin typeface="Lora"/>
                <a:ea typeface="Lora"/>
                <a:cs typeface="Lora"/>
                <a:sym typeface="Lora"/>
                <a:hlinkClick r:id="rId5"/>
              </a:rPr>
              <a:t>https://bit.ly/web-summarizer</a:t>
            </a:r>
            <a:r>
              <a:rPr lang="en" sz="1800">
                <a:solidFill>
                  <a:schemeClr val="lt2"/>
                </a:solidFill>
                <a:latin typeface="Lora"/>
                <a:ea typeface="Lora"/>
                <a:cs typeface="Lora"/>
                <a:sym typeface="Lora"/>
              </a:rPr>
              <a:t> </a:t>
            </a:r>
            <a:endParaRPr sz="1800">
              <a:solidFill>
                <a:schemeClr val="lt2"/>
              </a:solidFill>
              <a:latin typeface="Lora"/>
              <a:ea typeface="Lora"/>
              <a:cs typeface="Lora"/>
              <a:sym typeface="Lor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39" title="defense.png"/>
          <p:cNvPicPr preferRelativeResize="0"/>
          <p:nvPr/>
        </p:nvPicPr>
        <p:blipFill rotWithShape="1">
          <a:blip r:embed="rId3">
            <a:alphaModFix/>
          </a:blip>
          <a:srcRect b="0" l="0" r="0" t="0"/>
          <a:stretch/>
        </p:blipFill>
        <p:spPr>
          <a:xfrm>
            <a:off x="6304300" y="439600"/>
            <a:ext cx="2839700" cy="1615475"/>
          </a:xfrm>
          <a:prstGeom prst="rect">
            <a:avLst/>
          </a:prstGeom>
          <a:noFill/>
          <a:ln>
            <a:noFill/>
          </a:ln>
        </p:spPr>
      </p:pic>
      <p:sp>
        <p:nvSpPr>
          <p:cNvPr id="252" name="Google Shape;252;p39"/>
          <p:cNvSpPr txBox="1"/>
          <p:nvPr/>
        </p:nvSpPr>
        <p:spPr>
          <a:xfrm>
            <a:off x="4" y="347375"/>
            <a:ext cx="5723100" cy="650700"/>
          </a:xfrm>
          <a:prstGeom prst="rect">
            <a:avLst/>
          </a:prstGeom>
          <a:noFill/>
          <a:ln>
            <a:noFill/>
          </a:ln>
        </p:spPr>
        <p:txBody>
          <a:bodyPr anchorCtr="0" anchor="ctr" bIns="28700" lIns="57400" spcFirstLastPara="1" rIns="57400" wrap="square" tIns="28700">
            <a:spAutoFit/>
          </a:bodyPr>
          <a:lstStyle/>
          <a:p>
            <a:pPr indent="0" lvl="0" marL="0" marR="0" rtl="0" algn="ctr">
              <a:lnSpc>
                <a:spcPct val="80000"/>
              </a:lnSpc>
              <a:spcBef>
                <a:spcPts val="0"/>
              </a:spcBef>
              <a:spcAft>
                <a:spcPts val="0"/>
              </a:spcAft>
              <a:buClr>
                <a:srgbClr val="000000"/>
              </a:buClr>
              <a:buSzPts val="3014"/>
              <a:buFont typeface="Archivo Black"/>
              <a:buNone/>
            </a:pPr>
            <a:r>
              <a:rPr b="0" i="0" lang="en" sz="3014" u="none" cap="none" strike="noStrike">
                <a:solidFill>
                  <a:schemeClr val="dk1"/>
                </a:solidFill>
                <a:latin typeface="Lora"/>
                <a:ea typeface="Lora"/>
                <a:cs typeface="Lora"/>
                <a:sym typeface="Lora"/>
              </a:rPr>
              <a:t>The game has changed ..</a:t>
            </a:r>
            <a:endParaRPr b="0" i="0" sz="879" u="none" cap="none" strike="noStrike">
              <a:solidFill>
                <a:schemeClr val="dk1"/>
              </a:solidFill>
              <a:latin typeface="Lora"/>
              <a:ea typeface="Lora"/>
              <a:cs typeface="Lora"/>
              <a:sym typeface="Lora"/>
            </a:endParaRPr>
          </a:p>
          <a:p>
            <a:pPr indent="0" lvl="0" marL="0" marR="0" rtl="0" algn="ctr">
              <a:lnSpc>
                <a:spcPct val="80000"/>
              </a:lnSpc>
              <a:spcBef>
                <a:spcPts val="0"/>
              </a:spcBef>
              <a:spcAft>
                <a:spcPts val="0"/>
              </a:spcAft>
              <a:buClr>
                <a:srgbClr val="000000"/>
              </a:buClr>
              <a:buSzPts val="3014"/>
              <a:buFont typeface="Archivo Black"/>
              <a:buNone/>
            </a:pPr>
            <a:r>
              <a:rPr b="0" i="1" lang="en" sz="1800" u="none" cap="none" strike="noStrike">
                <a:solidFill>
                  <a:schemeClr val="dk1"/>
                </a:solidFill>
                <a:latin typeface="Lora"/>
                <a:ea typeface="Lora"/>
                <a:cs typeface="Lora"/>
                <a:sym typeface="Lora"/>
              </a:rPr>
              <a:t>the rules haven’t</a:t>
            </a:r>
            <a:endParaRPr b="0" i="1" sz="1800" u="none" cap="none" strike="noStrike">
              <a:solidFill>
                <a:schemeClr val="dk1"/>
              </a:solidFill>
              <a:latin typeface="Lora"/>
              <a:ea typeface="Lora"/>
              <a:cs typeface="Lora"/>
              <a:sym typeface="Lora"/>
            </a:endParaRPr>
          </a:p>
        </p:txBody>
      </p:sp>
      <p:sp>
        <p:nvSpPr>
          <p:cNvPr id="253" name="Google Shape;253;p39"/>
          <p:cNvSpPr txBox="1"/>
          <p:nvPr/>
        </p:nvSpPr>
        <p:spPr>
          <a:xfrm>
            <a:off x="769700" y="1408650"/>
            <a:ext cx="4057500" cy="870600"/>
          </a:xfrm>
          <a:prstGeom prst="rect">
            <a:avLst/>
          </a:prstGeom>
          <a:noFill/>
          <a:ln>
            <a:noFill/>
          </a:ln>
        </p:spPr>
        <p:txBody>
          <a:bodyPr anchorCtr="0" anchor="t" bIns="28700" lIns="57400" spcFirstLastPara="1" rIns="57400" wrap="square" tIns="28700">
            <a:spAutoFit/>
          </a:bodyPr>
          <a:lstStyle/>
          <a:p>
            <a:pPr indent="0" lvl="0" marL="0" marR="0" rtl="0" algn="l">
              <a:lnSpc>
                <a:spcPct val="115000"/>
              </a:lnSpc>
              <a:spcBef>
                <a:spcPts val="1800"/>
              </a:spcBef>
              <a:spcAft>
                <a:spcPts val="0"/>
              </a:spcAft>
              <a:buClr>
                <a:srgbClr val="000000"/>
              </a:buClr>
              <a:buSzPts val="1600"/>
              <a:buFont typeface="Arial"/>
              <a:buNone/>
            </a:pPr>
            <a:r>
              <a:rPr b="0" i="0" lang="en" sz="1600" u="none" cap="none" strike="noStrike">
                <a:solidFill>
                  <a:schemeClr val="dk1"/>
                </a:solidFill>
                <a:latin typeface="Lora"/>
                <a:ea typeface="Lora"/>
                <a:cs typeface="Lora"/>
                <a:sym typeface="Lora"/>
              </a:rPr>
              <a:t>Keys for defending your application</a:t>
            </a:r>
            <a:endParaRPr b="0" i="0" sz="1600" u="none" cap="none" strike="noStrike">
              <a:solidFill>
                <a:schemeClr val="dk1"/>
              </a:solidFill>
              <a:latin typeface="Lora"/>
              <a:ea typeface="Lora"/>
              <a:cs typeface="Lora"/>
              <a:sym typeface="Lora"/>
            </a:endParaRPr>
          </a:p>
          <a:p>
            <a:pPr indent="0" lvl="0" marL="0" marR="0" rtl="0" algn="l">
              <a:lnSpc>
                <a:spcPct val="115000"/>
              </a:lnSpc>
              <a:spcBef>
                <a:spcPts val="80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7"/>
              <a:buFont typeface="Calibri"/>
              <a:buNone/>
            </a:pPr>
            <a:r>
              <a:t/>
            </a:r>
            <a:endParaRPr b="0" i="0" sz="1507" u="none" cap="none" strike="noStrike">
              <a:solidFill>
                <a:schemeClr val="dk1"/>
              </a:solidFill>
              <a:latin typeface="Lora"/>
              <a:ea typeface="Lora"/>
              <a:cs typeface="Lora"/>
              <a:sym typeface="Lora"/>
            </a:endParaRPr>
          </a:p>
        </p:txBody>
      </p:sp>
      <p:sp>
        <p:nvSpPr>
          <p:cNvPr id="254" name="Google Shape;254;p39"/>
          <p:cNvSpPr txBox="1"/>
          <p:nvPr/>
        </p:nvSpPr>
        <p:spPr>
          <a:xfrm>
            <a:off x="451039" y="2119150"/>
            <a:ext cx="3003000" cy="320700"/>
          </a:xfrm>
          <a:prstGeom prst="rect">
            <a:avLst/>
          </a:prstGeom>
          <a:noFill/>
          <a:ln>
            <a:noFill/>
          </a:ln>
        </p:spPr>
        <p:txBody>
          <a:bodyPr anchorCtr="0" anchor="t" bIns="28700" lIns="57400" spcFirstLastPara="1" rIns="57400" wrap="square" tIns="28700">
            <a:spAutoFit/>
          </a:bodyPr>
          <a:lstStyle/>
          <a:p>
            <a:pPr indent="0" lvl="0" marL="0" marR="0" rtl="0" algn="l">
              <a:lnSpc>
                <a:spcPct val="100000"/>
              </a:lnSpc>
              <a:spcBef>
                <a:spcPts val="0"/>
              </a:spcBef>
              <a:spcAft>
                <a:spcPts val="0"/>
              </a:spcAft>
              <a:buClr>
                <a:srgbClr val="000000"/>
              </a:buClr>
              <a:buSzPts val="1507"/>
              <a:buFont typeface="Calibri"/>
              <a:buNone/>
            </a:pPr>
            <a:r>
              <a:rPr b="0" i="0" lang="en" sz="1707" u="none" cap="none" strike="noStrike">
                <a:solidFill>
                  <a:schemeClr val="dk1"/>
                </a:solidFill>
                <a:latin typeface="Lora"/>
                <a:ea typeface="Lora"/>
                <a:cs typeface="Lora"/>
                <a:sym typeface="Lora"/>
              </a:rPr>
              <a:t>Input Sanitization 2.0</a:t>
            </a:r>
            <a:endParaRPr b="0" i="0" sz="1079" u="none" cap="none" strike="noStrike">
              <a:solidFill>
                <a:schemeClr val="dk1"/>
              </a:solidFill>
              <a:latin typeface="Lora"/>
              <a:ea typeface="Lora"/>
              <a:cs typeface="Lora"/>
              <a:sym typeface="Lora"/>
            </a:endParaRPr>
          </a:p>
        </p:txBody>
      </p:sp>
      <p:sp>
        <p:nvSpPr>
          <p:cNvPr id="255" name="Google Shape;255;p39"/>
          <p:cNvSpPr txBox="1"/>
          <p:nvPr/>
        </p:nvSpPr>
        <p:spPr>
          <a:xfrm>
            <a:off x="451050" y="2488050"/>
            <a:ext cx="4572000" cy="1303200"/>
          </a:xfrm>
          <a:prstGeom prst="rect">
            <a:avLst/>
          </a:prstGeom>
          <a:noFill/>
          <a:ln>
            <a:noFill/>
          </a:ln>
        </p:spPr>
        <p:txBody>
          <a:bodyPr anchorCtr="0" anchor="t" bIns="28700" lIns="57400" spcFirstLastPara="1" rIns="57400" wrap="square" tIns="28700">
            <a:noAutofit/>
          </a:bodyPr>
          <a:lstStyle/>
          <a:p>
            <a:pPr indent="-298450" lvl="0" marL="457200" marR="0" rtl="0" algn="l">
              <a:lnSpc>
                <a:spcPct val="100000"/>
              </a:lnSpc>
              <a:spcBef>
                <a:spcPts val="0"/>
              </a:spcBef>
              <a:spcAft>
                <a:spcPts val="0"/>
              </a:spcAft>
              <a:buClr>
                <a:schemeClr val="dk1"/>
              </a:buClr>
              <a:buSzPts val="1100"/>
              <a:buFont typeface="Lora"/>
              <a:buAutoNum type="arabicPeriod"/>
            </a:pPr>
            <a:r>
              <a:rPr b="0" i="0" lang="en" sz="1100" u="none" cap="none" strike="noStrike">
                <a:solidFill>
                  <a:schemeClr val="dk1"/>
                </a:solidFill>
                <a:latin typeface="Lora"/>
                <a:ea typeface="Lora"/>
                <a:cs typeface="Lora"/>
                <a:sym typeface="Lora"/>
              </a:rPr>
              <a:t>Semantic analysis: "Does this look like an instruction?"</a:t>
            </a:r>
            <a:endParaRPr b="0" i="0" sz="1100" u="none" cap="none" strike="noStrike">
              <a:solidFill>
                <a:schemeClr val="dk1"/>
              </a:solidFill>
              <a:latin typeface="Lora"/>
              <a:ea typeface="Lora"/>
              <a:cs typeface="Lora"/>
              <a:sym typeface="Lora"/>
            </a:endParaRPr>
          </a:p>
          <a:p>
            <a:pPr indent="-298450" lvl="0" marL="457200" marR="0" rtl="0" algn="l">
              <a:lnSpc>
                <a:spcPct val="100000"/>
              </a:lnSpc>
              <a:spcBef>
                <a:spcPts val="0"/>
              </a:spcBef>
              <a:spcAft>
                <a:spcPts val="0"/>
              </a:spcAft>
              <a:buClr>
                <a:schemeClr val="dk1"/>
              </a:buClr>
              <a:buSzPts val="1100"/>
              <a:buFont typeface="Lora"/>
              <a:buAutoNum type="arabicPeriod"/>
            </a:pPr>
            <a:r>
              <a:rPr b="0" i="0" lang="en" sz="1100" u="none" cap="none" strike="noStrike">
                <a:solidFill>
                  <a:schemeClr val="dk1"/>
                </a:solidFill>
                <a:latin typeface="Lora"/>
                <a:ea typeface="Lora"/>
                <a:cs typeface="Lora"/>
                <a:sym typeface="Lora"/>
              </a:rPr>
              <a:t>Pattern matching: Known jailbreak techniques</a:t>
            </a:r>
            <a:endParaRPr b="0" i="0" sz="1100" u="none" cap="none" strike="noStrike">
              <a:solidFill>
                <a:schemeClr val="dk1"/>
              </a:solidFill>
              <a:latin typeface="Lora"/>
              <a:ea typeface="Lora"/>
              <a:cs typeface="Lora"/>
              <a:sym typeface="Lora"/>
            </a:endParaRPr>
          </a:p>
          <a:p>
            <a:pPr indent="-298450" lvl="0" marL="457200" marR="0" rtl="0" algn="l">
              <a:lnSpc>
                <a:spcPct val="100000"/>
              </a:lnSpc>
              <a:spcBef>
                <a:spcPts val="0"/>
              </a:spcBef>
              <a:spcAft>
                <a:spcPts val="0"/>
              </a:spcAft>
              <a:buClr>
                <a:schemeClr val="dk1"/>
              </a:buClr>
              <a:buSzPts val="1100"/>
              <a:buFont typeface="Lora"/>
              <a:buAutoNum type="arabicPeriod"/>
            </a:pPr>
            <a:r>
              <a:rPr b="0" i="0" lang="en" sz="1100" u="none" cap="none" strike="noStrike">
                <a:solidFill>
                  <a:schemeClr val="dk1"/>
                </a:solidFill>
                <a:latin typeface="Lora"/>
                <a:ea typeface="Lora"/>
                <a:cs typeface="Lora"/>
                <a:sym typeface="Lora"/>
              </a:rPr>
              <a:t>Context checking: "Is this user trying to change roles?"</a:t>
            </a:r>
            <a:endParaRPr b="0" i="0" sz="1100" u="none" cap="none" strike="noStrike">
              <a:solidFill>
                <a:schemeClr val="dk1"/>
              </a:solidFill>
              <a:latin typeface="Lora"/>
              <a:ea typeface="Lora"/>
              <a:cs typeface="Lora"/>
              <a:sym typeface="Lora"/>
            </a:endParaRPr>
          </a:p>
          <a:p>
            <a:pPr indent="-298450" lvl="0" marL="457200" marR="0" rtl="0" algn="l">
              <a:lnSpc>
                <a:spcPct val="100000"/>
              </a:lnSpc>
              <a:spcBef>
                <a:spcPts val="0"/>
              </a:spcBef>
              <a:spcAft>
                <a:spcPts val="0"/>
              </a:spcAft>
              <a:buClr>
                <a:schemeClr val="dk1"/>
              </a:buClr>
              <a:buSzPts val="1100"/>
              <a:buFont typeface="Lora"/>
              <a:buAutoNum type="arabicPeriod"/>
            </a:pPr>
            <a:r>
              <a:rPr b="0" i="0" lang="en" sz="1100" u="none" cap="none" strike="noStrike">
                <a:solidFill>
                  <a:schemeClr val="dk1"/>
                </a:solidFill>
                <a:latin typeface="Lora"/>
                <a:ea typeface="Lora"/>
                <a:cs typeface="Lora"/>
                <a:sym typeface="Lora"/>
              </a:rPr>
              <a:t>Output validation: "Did the AI reveal something it shouldn't?"</a:t>
            </a:r>
            <a:endParaRPr b="0" i="0" sz="690" u="none" cap="none" strike="noStrike">
              <a:solidFill>
                <a:schemeClr val="dk1"/>
              </a:solidFill>
              <a:latin typeface="Lora"/>
              <a:ea typeface="Lora"/>
              <a:cs typeface="Lora"/>
              <a:sym typeface="Lora"/>
            </a:endParaRPr>
          </a:p>
        </p:txBody>
      </p:sp>
      <p:sp>
        <p:nvSpPr>
          <p:cNvPr id="256" name="Google Shape;256;p39"/>
          <p:cNvSpPr txBox="1"/>
          <p:nvPr/>
        </p:nvSpPr>
        <p:spPr>
          <a:xfrm>
            <a:off x="451039" y="3697500"/>
            <a:ext cx="3003000" cy="320700"/>
          </a:xfrm>
          <a:prstGeom prst="rect">
            <a:avLst/>
          </a:prstGeom>
          <a:noFill/>
          <a:ln>
            <a:noFill/>
          </a:ln>
        </p:spPr>
        <p:txBody>
          <a:bodyPr anchorCtr="0" anchor="t" bIns="28700" lIns="57400" spcFirstLastPara="1" rIns="57400" wrap="square" tIns="28700">
            <a:spAutoFit/>
          </a:bodyPr>
          <a:lstStyle/>
          <a:p>
            <a:pPr indent="0" lvl="0" marL="0" marR="0" rtl="0" algn="l">
              <a:lnSpc>
                <a:spcPct val="100000"/>
              </a:lnSpc>
              <a:spcBef>
                <a:spcPts val="0"/>
              </a:spcBef>
              <a:spcAft>
                <a:spcPts val="0"/>
              </a:spcAft>
              <a:buClr>
                <a:srgbClr val="000000"/>
              </a:buClr>
              <a:buSzPts val="1507"/>
              <a:buFont typeface="Calibri"/>
              <a:buNone/>
            </a:pPr>
            <a:r>
              <a:rPr b="0" i="0" lang="en" sz="1707" u="none" cap="none" strike="noStrike">
                <a:solidFill>
                  <a:schemeClr val="dk1"/>
                </a:solidFill>
                <a:latin typeface="Lora"/>
                <a:ea typeface="Lora"/>
                <a:cs typeface="Lora"/>
                <a:sym typeface="Lora"/>
              </a:rPr>
              <a:t>Defense in Depth for AI</a:t>
            </a:r>
            <a:endParaRPr b="0" i="0" sz="1079" u="none" cap="none" strike="noStrike">
              <a:solidFill>
                <a:schemeClr val="dk1"/>
              </a:solidFill>
              <a:latin typeface="Lora"/>
              <a:ea typeface="Lora"/>
              <a:cs typeface="Lora"/>
              <a:sym typeface="Lora"/>
            </a:endParaRPr>
          </a:p>
        </p:txBody>
      </p:sp>
      <p:sp>
        <p:nvSpPr>
          <p:cNvPr id="257" name="Google Shape;257;p39"/>
          <p:cNvSpPr txBox="1"/>
          <p:nvPr/>
        </p:nvSpPr>
        <p:spPr>
          <a:xfrm>
            <a:off x="451050" y="4066400"/>
            <a:ext cx="4821000" cy="1303200"/>
          </a:xfrm>
          <a:prstGeom prst="rect">
            <a:avLst/>
          </a:prstGeom>
          <a:noFill/>
          <a:ln>
            <a:noFill/>
          </a:ln>
        </p:spPr>
        <p:txBody>
          <a:bodyPr anchorCtr="0" anchor="t" bIns="28700" lIns="57400" spcFirstLastPara="1" rIns="57400" wrap="square" tIns="28700">
            <a:noAutofit/>
          </a:bodyPr>
          <a:lstStyle/>
          <a:p>
            <a:pPr indent="-298450" lvl="0" marL="457200" marR="0" rtl="0" algn="l">
              <a:lnSpc>
                <a:spcPct val="100000"/>
              </a:lnSpc>
              <a:spcBef>
                <a:spcPts val="0"/>
              </a:spcBef>
              <a:spcAft>
                <a:spcPts val="0"/>
              </a:spcAft>
              <a:buClr>
                <a:schemeClr val="dk1"/>
              </a:buClr>
              <a:buSzPts val="1100"/>
              <a:buFont typeface="Lora"/>
              <a:buAutoNum type="arabicPeriod"/>
            </a:pPr>
            <a:r>
              <a:rPr b="0" i="0" lang="en" sz="1100" u="none" cap="none" strike="noStrike">
                <a:solidFill>
                  <a:schemeClr val="dk1"/>
                </a:solidFill>
                <a:latin typeface="Lora"/>
                <a:ea typeface="Lora"/>
                <a:cs typeface="Lora"/>
                <a:sym typeface="Lora"/>
              </a:rPr>
              <a:t>Pre-processing: Clean inputs before they reach the LLM </a:t>
            </a:r>
            <a:endParaRPr b="0" i="0" sz="1100" u="none" cap="none" strike="noStrike">
              <a:solidFill>
                <a:schemeClr val="dk1"/>
              </a:solidFill>
              <a:latin typeface="Lora"/>
              <a:ea typeface="Lora"/>
              <a:cs typeface="Lora"/>
              <a:sym typeface="Lora"/>
            </a:endParaRPr>
          </a:p>
          <a:p>
            <a:pPr indent="-298450" lvl="0" marL="457200" marR="0" rtl="0" algn="l">
              <a:lnSpc>
                <a:spcPct val="100000"/>
              </a:lnSpc>
              <a:spcBef>
                <a:spcPts val="0"/>
              </a:spcBef>
              <a:spcAft>
                <a:spcPts val="0"/>
              </a:spcAft>
              <a:buClr>
                <a:schemeClr val="dk1"/>
              </a:buClr>
              <a:buSzPts val="1100"/>
              <a:buFont typeface="Lora"/>
              <a:buAutoNum type="arabicPeriod"/>
            </a:pPr>
            <a:r>
              <a:rPr b="0" i="0" lang="en" sz="1100" u="none" cap="none" strike="noStrike">
                <a:solidFill>
                  <a:schemeClr val="dk1"/>
                </a:solidFill>
                <a:latin typeface="Lora"/>
                <a:ea typeface="Lora"/>
                <a:cs typeface="Lora"/>
                <a:sym typeface="Lora"/>
              </a:rPr>
              <a:t>Prompt isolation: Separate user input from system instructions</a:t>
            </a:r>
            <a:endParaRPr b="0" i="0" sz="1100" u="none" cap="none" strike="noStrike">
              <a:solidFill>
                <a:schemeClr val="dk1"/>
              </a:solidFill>
              <a:latin typeface="Lora"/>
              <a:ea typeface="Lora"/>
              <a:cs typeface="Lora"/>
              <a:sym typeface="Lora"/>
            </a:endParaRPr>
          </a:p>
          <a:p>
            <a:pPr indent="-298450" lvl="0" marL="457200" marR="0" rtl="0" algn="l">
              <a:lnSpc>
                <a:spcPct val="100000"/>
              </a:lnSpc>
              <a:spcBef>
                <a:spcPts val="0"/>
              </a:spcBef>
              <a:spcAft>
                <a:spcPts val="0"/>
              </a:spcAft>
              <a:buClr>
                <a:schemeClr val="dk1"/>
              </a:buClr>
              <a:buSzPts val="1100"/>
              <a:buFont typeface="Lora"/>
              <a:buAutoNum type="arabicPeriod"/>
            </a:pPr>
            <a:r>
              <a:rPr b="0" i="0" lang="en" sz="1100" u="none" cap="none" strike="noStrike">
                <a:solidFill>
                  <a:schemeClr val="dk1"/>
                </a:solidFill>
                <a:latin typeface="Lora"/>
                <a:ea typeface="Lora"/>
                <a:cs typeface="Lora"/>
                <a:sym typeface="Lora"/>
              </a:rPr>
              <a:t>Output filtering: Scan AI responses for leaked information</a:t>
            </a:r>
            <a:endParaRPr b="0" i="0" sz="1100" u="none" cap="none" strike="noStrike">
              <a:solidFill>
                <a:schemeClr val="dk1"/>
              </a:solidFill>
              <a:latin typeface="Lora"/>
              <a:ea typeface="Lora"/>
              <a:cs typeface="Lora"/>
              <a:sym typeface="Lora"/>
            </a:endParaRPr>
          </a:p>
          <a:p>
            <a:pPr indent="-298450" lvl="0" marL="457200" marR="0" rtl="0" algn="l">
              <a:lnSpc>
                <a:spcPct val="100000"/>
              </a:lnSpc>
              <a:spcBef>
                <a:spcPts val="0"/>
              </a:spcBef>
              <a:spcAft>
                <a:spcPts val="0"/>
              </a:spcAft>
              <a:buClr>
                <a:schemeClr val="dk1"/>
              </a:buClr>
              <a:buSzPts val="1100"/>
              <a:buFont typeface="Lora"/>
              <a:buAutoNum type="arabicPeriod"/>
            </a:pPr>
            <a:r>
              <a:rPr b="0" i="0" lang="en" sz="1100" u="none" cap="none" strike="noStrike">
                <a:solidFill>
                  <a:schemeClr val="dk1"/>
                </a:solidFill>
                <a:latin typeface="Lora"/>
                <a:ea typeface="Lora"/>
                <a:cs typeface="Lora"/>
                <a:sym typeface="Lora"/>
              </a:rPr>
              <a:t>Behavioral monitoring: Watch for unusual AI behavior patterns</a:t>
            </a:r>
            <a:endParaRPr b="0" i="0" sz="690" u="none" cap="none" strike="noStrike">
              <a:solidFill>
                <a:schemeClr val="dk1"/>
              </a:solidFill>
              <a:latin typeface="Lora"/>
              <a:ea typeface="Lora"/>
              <a:cs typeface="Lora"/>
              <a:sym typeface="Lor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0"/>
          <p:cNvSpPr txBox="1"/>
          <p:nvPr/>
        </p:nvSpPr>
        <p:spPr>
          <a:xfrm>
            <a:off x="1676700" y="0"/>
            <a:ext cx="5790600" cy="1170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lang="en" sz="3000">
                <a:solidFill>
                  <a:schemeClr val="dk1"/>
                </a:solidFill>
                <a:latin typeface="Lora Medium"/>
                <a:ea typeface="Lora Medium"/>
                <a:cs typeface="Lora Medium"/>
                <a:sym typeface="Lora Medium"/>
              </a:rPr>
              <a:t>Learn to hack LLMs</a:t>
            </a:r>
            <a:endParaRPr i="0" sz="3000" u="none" cap="none" strike="noStrike">
              <a:solidFill>
                <a:schemeClr val="dk1"/>
              </a:solidFill>
              <a:latin typeface="Lora Medium"/>
              <a:ea typeface="Lora Medium"/>
              <a:cs typeface="Lora Medium"/>
              <a:sym typeface="Lora Medium"/>
            </a:endParaRPr>
          </a:p>
        </p:txBody>
      </p:sp>
      <p:pic>
        <p:nvPicPr>
          <p:cNvPr id="263" name="Google Shape;263;p40">
            <a:hlinkClick r:id="rId3"/>
          </p:cNvPr>
          <p:cNvPicPr preferRelativeResize="0"/>
          <p:nvPr/>
        </p:nvPicPr>
        <p:blipFill>
          <a:blip r:embed="rId4">
            <a:alphaModFix/>
          </a:blip>
          <a:stretch>
            <a:fillRect/>
          </a:stretch>
        </p:blipFill>
        <p:spPr>
          <a:xfrm>
            <a:off x="307675" y="1477126"/>
            <a:ext cx="2962929" cy="606175"/>
          </a:xfrm>
          <a:prstGeom prst="rect">
            <a:avLst/>
          </a:prstGeom>
          <a:noFill/>
          <a:ln>
            <a:noFill/>
          </a:ln>
        </p:spPr>
      </p:pic>
      <p:pic>
        <p:nvPicPr>
          <p:cNvPr id="264" name="Google Shape;264;p40">
            <a:hlinkClick r:id="rId5"/>
          </p:cNvPr>
          <p:cNvPicPr preferRelativeResize="0"/>
          <p:nvPr/>
        </p:nvPicPr>
        <p:blipFill>
          <a:blip r:embed="rId6">
            <a:alphaModFix/>
          </a:blip>
          <a:stretch>
            <a:fillRect/>
          </a:stretch>
        </p:blipFill>
        <p:spPr>
          <a:xfrm>
            <a:off x="5880500" y="1336225"/>
            <a:ext cx="2962852" cy="606175"/>
          </a:xfrm>
          <a:prstGeom prst="rect">
            <a:avLst/>
          </a:prstGeom>
          <a:noFill/>
          <a:ln>
            <a:noFill/>
          </a:ln>
        </p:spPr>
      </p:pic>
      <p:pic>
        <p:nvPicPr>
          <p:cNvPr id="265" name="Google Shape;265;p40">
            <a:hlinkClick r:id="rId7"/>
          </p:cNvPr>
          <p:cNvPicPr preferRelativeResize="0"/>
          <p:nvPr/>
        </p:nvPicPr>
        <p:blipFill>
          <a:blip r:embed="rId8">
            <a:alphaModFix/>
          </a:blip>
          <a:stretch>
            <a:fillRect/>
          </a:stretch>
        </p:blipFill>
        <p:spPr>
          <a:xfrm>
            <a:off x="271200" y="2481924"/>
            <a:ext cx="3000276" cy="1350100"/>
          </a:xfrm>
          <a:prstGeom prst="rect">
            <a:avLst/>
          </a:prstGeom>
          <a:noFill/>
          <a:ln>
            <a:noFill/>
          </a:ln>
        </p:spPr>
      </p:pic>
      <p:pic>
        <p:nvPicPr>
          <p:cNvPr id="266" name="Google Shape;266;p40"/>
          <p:cNvPicPr preferRelativeResize="0"/>
          <p:nvPr/>
        </p:nvPicPr>
        <p:blipFill rotWithShape="1">
          <a:blip r:embed="rId9">
            <a:alphaModFix/>
          </a:blip>
          <a:srcRect b="7387" l="5824" r="5514" t="4241"/>
          <a:stretch/>
        </p:blipFill>
        <p:spPr>
          <a:xfrm>
            <a:off x="3554087" y="1542113"/>
            <a:ext cx="2042924" cy="2059275"/>
          </a:xfrm>
          <a:prstGeom prst="rect">
            <a:avLst/>
          </a:prstGeom>
          <a:noFill/>
          <a:ln>
            <a:noFill/>
          </a:ln>
        </p:spPr>
      </p:pic>
      <p:pic>
        <p:nvPicPr>
          <p:cNvPr id="267" name="Google Shape;267;p40">
            <a:hlinkClick r:id="rId10"/>
          </p:cNvPr>
          <p:cNvPicPr preferRelativeResize="0"/>
          <p:nvPr/>
        </p:nvPicPr>
        <p:blipFill>
          <a:blip r:embed="rId11">
            <a:alphaModFix/>
          </a:blip>
          <a:stretch>
            <a:fillRect/>
          </a:stretch>
        </p:blipFill>
        <p:spPr>
          <a:xfrm>
            <a:off x="5740837" y="2223500"/>
            <a:ext cx="3242189" cy="209560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41"/>
          <p:cNvPicPr preferRelativeResize="0"/>
          <p:nvPr/>
        </p:nvPicPr>
        <p:blipFill>
          <a:blip r:embed="rId3">
            <a:alphaModFix/>
          </a:blip>
          <a:stretch>
            <a:fillRect/>
          </a:stretch>
        </p:blipFill>
        <p:spPr>
          <a:xfrm>
            <a:off x="152400" y="152400"/>
            <a:ext cx="8839201" cy="471815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